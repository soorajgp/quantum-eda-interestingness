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esteemed faculty and colleagues. Today I am presenting our work on Q-Interestingness: Quantum Exploratory Data Analysis. Our core investigation asks: When we embed tabular data into quantum Hilbert spaces using parameterized circuits, does the resulting inner-product state geometry reveal structural oddities and relationships that classical Euclidean distances and RBF kernels compress? Over the next 15 minutes, I will share our theoretical formulation, the QI_v2 metric, our statistical permutation proofs, and cross-dataset benchmarks.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exploratory data analysis, all discovery is conditioned on the metric space chosen. Classical algorithms—whether distance-based like Local Outlier Factor or partitioning-based like Isolation Forest—are constrained by Euclidean geometry. When tabular data has complex multi-feature interactions, classical metrics often compress this structure. Quantum feature maps allow us to project data into a 2^n dimensional Hilbert space where entanglement couples features into non-linear phase angles. Our goal is not to replace classical methods, but to understand whether quantum representations offer a principled, complementary lens.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literature: Havlíček et al. (Nature 2019) and Schuld &amp; Killoran (PRL 2019) laid the foundation for quantum feature spaces, but primarily focused on supervised support vector classification. Very little work has investigated what quantum Hilbert geometry does to unsupervised exploratory data analysis. Our work addresses this exact gap with five contributions: formal divergence quantification, the decoupled QI_v2 metric, classical non-linear controls, a full B=100 quantum permutation test, and multi-domain validation.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quantum circuit architecture. We map 4 continuous features into a 4-qubit circuit using Qiskit's class-based ZZFeatureMap. Notice the mathematical structure: the single-qubit terms apply individual phase shifts Z_j, while the two-qubit terms inject pairwise products (π - x_j)(π - x_k) Z_j Z_k. This non-linear interaction means the quantum state cannot be factored into independent marginals. The similarity between two data points is the fidelity—the overlap probability between statevectors.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the mathematical core: QI_v2. In earlier prototype versions, all components were bundled into a single ad-hoc linear equation. We restructured this into two decoupled signals: QU, which measures how unusual a point is strictly within Hilbert space, and RD, which measures the tension between classical Euclidean space and quantum state space. Notice our correction to the B metric: earlier implementations had a subtle bug where K_ii = 1.0 was included in row variance, which artificially elevated isolated points. By masking the diagonal, the metric reflects pure neighborhood heterogeneity.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primary empirical findings on the UCI Red Wine Quality dataset. The Classical-Quantum CKA is 0.2484 with a tight bootstrap confidence interval. This means the global geometry diverges by over 75% from Gaussian RBF. Even more striking is the local neighborhood graph: at k=10, the Jaccard overlap is 0.1004. In practical terms, if you take any observation and look at its 10 closest peers in classical space, 9 of those 10 peers are completely different in quantum state space. This demonstrates substantial local rewiring.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question from any expert reviewer is: 'Why not just use a polynomial kernel or random Fourier features?' Slide 7 directly answers this question. We measured the kernel divergence D = 1 - CKA relative to Gaussian RBF. A standard 3rd-degree polynomial kernel diverges from RBF by 0.3298. The quantum feature map diverges by 0.7516—more than double! Random Fourier features converge almost perfectly to RBF (CKA = 0.9841). This proves empirically that quantum Hilbert spaces are not merely mimicking classical non-linearities.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scientific publishing, demonstrating that a metric is 'different' is insufficient without a null hypothesis test. Slide 8 presents our full B=100 quantum permutation test. We ran 100 separate quantum kernel evaluations on independently permuted data. When features are shuffled, destroying all multi-variable relations, CKA drops to 0.1821. The maximum permuted CKA in 100 trials was 0.2001. Our observed CKA of 0.2484 sits at z = +8.91 standard deviations. Not a single trial reached the observed alignment, yielding an empirical p-value of p = 0.0099. This rigorously rejects the hypothesis of random state concentration.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examines whether this divergence is sensitive to neighborhood scale. We measured Jaccard overlap across k = 5, 10, 15, and 20. Even when expanding the neighborhood to k=20, the overlap reaches only 11.68%. This plateau shows that metric divergence is scale-invariant. Points that cluster tightly in classical space are dispersed across Hilbert space, and vice-versa.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visualize the core practical outcome of Q-Interestingness: the QU vs RD landscape. At the 90th percentile threshold, the data partitions into four distinct categories. We identify 13 'Quantum-only' candidates. These data points have perfectly normal classical scores—Isolation Forest completely ignores them. Yet in Hilbert space, they exhibit extreme phase isolation or neighborhood heterogeneity. When domain experts inspect these candidates, they discover complex multi-variable interactions that 1D histograms completely hide.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machine learning, composite scores are often criticized for heuristic weighting. Slide 11 addresses this head-on with an ablation study and a continuous parameter sweep. We varied lambda from 0.1 to 0.9. Across all weight pairs, the mean Spearman rank stability is 0.9697, with a worst-case correlation of 0.9165. This proves our candidate rankings are robust and do not depend on arbitrary hyperparameter tuning. Furthermore, QAS and CAS correlate at only 0.1954, verifying that classical and quantum anomaly detectors capture largely orthogonal signals.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addresses the generalizability of our findings. Reviewers rightfully ask whether this phenomenon is unique to wine data. We tested three completely distinct domains: sensory quality, chemical cultivar recognition, and clinical breast cancer diagnostics. In all three datasets, CKA stays between 0.25 and 0.40, local Jaccard stays under 24%, and the algorithm reliably surfaces quantum-specific candidates. This confirms that representation divergence is an intrinsic property of entangling quantum maps on tabular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provides crucial scientific nuance. We do not claim quantum is universally superior. On Gaussian blobs with trivial spatial outliers, Isolation Forest gets a perfect 1.0 precision, whereas QI gets 0.90. Classical methods should always be preferred for simple spatial anomalies. However, when data forms complex manifolds like Concentric Circles or Two Moons, CKA drops to ~0.40, and Representation Disagreement activates to guide QI toward points that violate non-linear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limitation of quantum simulation papers is that they assume infinite-precision mathematics. Slide 14 tests pre-hardware viability by simulating finite shot noise on IBM Qiskit Aer. Even with only 1024 measurement shots, the alignment changes by only 0.0004, and candidate rankings correlate at 0.9990. We also ablated the circuit: when you turn off two-qubit entanglement, CKA jumps from 0.248 to 0.640. This proves that circuit entanglement—not single-qubit phase rotation—drives the structural divergence.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this research practical, we built an interactive Streamlit dashboard. Domain experts cannot be expected to inspect raw statevectors or Gram matrices. The dashboard provides side-by-side Kernel PCA embeddings, interactive 4-quadrant filtering, kernel affinity heatmaps, and individual radar feature profiles. This bridges the gap between quantum Hilbert space theory and domain-expert hypothesis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articulates our scientific limitations clearly. First, we simulated quantum circuits on classical statevector backends; real QPUs will introduce physical noise. Second, O(N^2) pairwise fidelity limits classical simulation to subsets around N=150. Third, our candidates are exploratory structural candidates, not confirmed physical defects. And fourth, we claim zero quantum computational advantage or asymptotic speedup. Our contribution is an exploratory data analysis framework, and we report all results within these transparent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research demonstrates that parameterized quantum circuits induce an alternative, statistically significant geometric landscape. The divergence is over twice that of polynomial controls, local neighborhoods are 90% rewired, and the observed alignment is validated by a 100-run permutation test at p &lt; 0.01. The decoupled QI_v2 framework provides an end-to-end mathematical tool to surface exploratory candidates that classical EDA inevitably compresses.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our next steps include deploying these kernels on physical IBM Quantum QPUs with zero-noise extrapolation, exploring Nyström approximations to scale past N=1000, and conducting domain-expert studies in materials and genomics. Thank you very much for your time and attention. I would be delighted to take any questions or feedback from the committee.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463040"/>
            <a:ext cx="13716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2743200"/>
          </a:xfrm>
          <a:prstGeom prst="rect">
            <a:avLst/>
          </a:prstGeom>
          <a:noFill/>
        </p:spPr>
        <p:txBody>
          <a:bodyPr wrap="square">
            <a:spAutoFit/>
          </a:bodyPr>
          <a:lstStyle/>
          <a:p>
            <a:pPr>
              <a:spcAft>
                <a:spcPts val="1000"/>
              </a:spcAft>
              <a:defRPr sz="1100" b="1">
                <a:solidFill>
                  <a:srgbClr val="0EA5E9"/>
                </a:solidFill>
                <a:latin typeface="Calibri"/>
              </a:defRPr>
            </a:pPr>
            <a:r>
              <a:t>RESEARCH CONFERENCE PRESENTATION  |  QUANTUM COMPUTING &amp; DATA SCIENCE</a:t>
            </a:r>
          </a:p>
          <a:p>
            <a:pPr>
              <a:spcAft>
                <a:spcPts val="1200"/>
              </a:spcAft>
              <a:defRPr sz="3200" b="1">
                <a:solidFill>
                  <a:srgbClr val="FFFFFF"/>
                </a:solidFill>
                <a:latin typeface="Calibri"/>
              </a:defRPr>
            </a:pPr>
            <a:r>
              <a:t>Q-Interestingness: Quantum Exploratory Data Analysis</a:t>
            </a:r>
          </a:p>
          <a:p>
            <a:pPr>
              <a:defRPr sz="1600">
                <a:solidFill>
                  <a:srgbClr val="94A3B8"/>
                </a:solidFill>
                <a:latin typeface="Calibri"/>
              </a:defRPr>
            </a:pPr>
            <a:r>
              <a:t>Quantifying Structural Divergence and Complementary Anomaly Candidates via Entangling Quantum Hilbert Spaces</a:t>
            </a:r>
          </a:p>
        </p:txBody>
      </p:sp>
      <p:sp>
        <p:nvSpPr>
          <p:cNvPr id="5" name="Rounded Rectangle 4"/>
          <p:cNvSpPr/>
          <p:nvPr/>
        </p:nvSpPr>
        <p:spPr>
          <a:xfrm>
            <a:off x="914400" y="4754880"/>
            <a:ext cx="10362895" cy="128016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4892040"/>
            <a:ext cx="9784080" cy="1005840"/>
          </a:xfrm>
          <a:prstGeom prst="rect">
            <a:avLst/>
          </a:prstGeom>
          <a:noFill/>
        </p:spPr>
        <p:txBody>
          <a:bodyPr wrap="none">
            <a:spAutoFit/>
          </a:bodyPr>
          <a:lstStyle/>
          <a:p>
            <a:pPr>
              <a:defRPr sz="1400" b="1">
                <a:solidFill>
                  <a:srgbClr val="FFFFFF"/>
                </a:solidFill>
                <a:latin typeface="Calibri"/>
              </a:defRPr>
            </a:pPr>
            <a:r>
              <a:t>Author &amp; Presenter: Sooraj G P</a:t>
            </a:r>
          </a:p>
          <a:p>
            <a:pPr>
              <a:defRPr sz="1100">
                <a:solidFill>
                  <a:srgbClr val="0EA5E9"/>
                </a:solidFill>
                <a:latin typeface="Calibri"/>
              </a:defRPr>
            </a:pPr>
            <a:r>
              <a:t>Qiskit 2.5.2  |  Qiskit Machine Learning 0.9.1  |  Scikit-Learn  |  Empirical Permutation Validated (p &lt; 0.01)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MOTIVATION &amp; PROBLEM STATEMENT</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The Geometric Boundaries of Classical EDA</a:t>
            </a:r>
          </a:p>
          <a:p>
            <a:pPr>
              <a:defRPr sz="1200">
                <a:solidFill>
                  <a:srgbClr val="475569"/>
                </a:solidFill>
                <a:latin typeface="Calibri"/>
              </a:defRPr>
            </a:pPr>
            <a:r>
              <a:t>Why Euclidean metrics and stationary kernels fail to capture complex multi-feature relations.</a:t>
            </a:r>
          </a:p>
        </p:txBody>
      </p:sp>
      <p:sp>
        <p:nvSpPr>
          <p:cNvPr id="5" name="Rounded Rectangle 4"/>
          <p:cNvSpPr/>
          <p:nvPr/>
        </p:nvSpPr>
        <p:spPr>
          <a:xfrm>
            <a:off x="73152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80" cy="320040"/>
          </a:xfrm>
          <a:prstGeom prst="rect">
            <a:avLst/>
          </a:prstGeom>
          <a:noFill/>
        </p:spPr>
        <p:txBody>
          <a:bodyPr wrap="square" lIns="0" rIns="0" tIns="0" bIns="0">
            <a:spAutoFit/>
          </a:bodyPr>
          <a:lstStyle/>
          <a:p>
            <a:pPr>
              <a:defRPr sz="1300" b="1">
                <a:solidFill>
                  <a:srgbClr val="1E293B"/>
                </a:solidFill>
                <a:latin typeface="Calibri"/>
              </a:defRPr>
            </a:pPr>
            <a:r>
              <a:t>The Classical Representation Bottleneck</a:t>
            </a:r>
          </a:p>
        </p:txBody>
      </p:sp>
      <p:sp>
        <p:nvSpPr>
          <p:cNvPr id="7" name="TextBox 6"/>
          <p:cNvSpPr txBox="1"/>
          <p:nvPr/>
        </p:nvSpPr>
        <p:spPr>
          <a:xfrm>
            <a:off x="914400" y="1920240"/>
            <a:ext cx="4754880" cy="4114800"/>
          </a:xfrm>
          <a:prstGeom prst="rect">
            <a:avLst/>
          </a:prstGeom>
          <a:noFill/>
        </p:spPr>
        <p:txBody>
          <a:bodyPr wrap="square">
            <a:spAutoFit/>
          </a:bodyPr>
          <a:lstStyle/>
          <a:p>
            <a:pPr>
              <a:spcAft>
                <a:spcPts val="1200"/>
              </a:spcAft>
            </a:pPr>
            <a:r>
              <a:rPr b="1" sz="1100">
                <a:solidFill>
                  <a:srgbClr val="1E293B"/>
                </a:solidFill>
                <a:latin typeface="Calibri"/>
              </a:rPr>
              <a:t>Euclidean Distance Assumptions: </a:t>
            </a:r>
            <a:r>
              <a:rPr sz="1100">
                <a:solidFill>
                  <a:srgbClr val="475569"/>
                </a:solidFill>
                <a:latin typeface="Calibri"/>
              </a:rPr>
              <a:t>Standard EDA and anomaly detection (e.g., k-NN, Isolation Forest, LOF) presuppose flat Euclidean spaces or axis-aligned tree partitions.</a:t>
            </a:r>
          </a:p>
          <a:p>
            <a:pPr>
              <a:spcAft>
                <a:spcPts val="1200"/>
              </a:spcAft>
            </a:pPr>
            <a:r>
              <a:rPr b="1" sz="1100">
                <a:solidFill>
                  <a:srgbClr val="1E293B"/>
                </a:solidFill>
                <a:latin typeface="Calibri"/>
              </a:rPr>
              <a:t>Stationary Kernel Compression: </a:t>
            </a:r>
            <a:r>
              <a:rPr sz="1100">
                <a:solidFill>
                  <a:srgbClr val="475569"/>
                </a:solidFill>
                <a:latin typeface="Calibri"/>
              </a:rPr>
              <a:t>Stationary kernels like Gaussian RBF depend strictly on spatial displacement ||x_i - x_j||. They compress complex relational correlations across non-linearly coupled tabular features.</a:t>
            </a:r>
          </a:p>
          <a:p>
            <a:pPr>
              <a:spcAft>
                <a:spcPts val="1200"/>
              </a:spcAft>
            </a:pPr>
            <a:r>
              <a:rPr b="1" sz="1100">
                <a:solidFill>
                  <a:srgbClr val="1E293B"/>
                </a:solidFill>
                <a:latin typeface="Calibri"/>
              </a:rPr>
              <a:t>The Blind Spot: </a:t>
            </a:r>
            <a:r>
              <a:rPr sz="1100">
                <a:solidFill>
                  <a:srgbClr val="475569"/>
                </a:solidFill>
                <a:latin typeface="Calibri"/>
              </a:rPr>
              <a:t>Observations with typical 1D marginals and median spatial coordinates can exhibit high relational heterogeneity across multi-variable phase relationships.</a:t>
            </a:r>
          </a:p>
          <a:p>
            <a:pPr>
              <a:spcAft>
                <a:spcPts val="1200"/>
              </a:spcAft>
            </a:pPr>
            <a:r>
              <a:rPr b="1" sz="1100">
                <a:solidFill>
                  <a:srgbClr val="1E293B"/>
                </a:solidFill>
                <a:latin typeface="Calibri"/>
              </a:rPr>
              <a:t>Core Research Question: </a:t>
            </a:r>
            <a:r>
              <a:rPr sz="1100">
                <a:solidFill>
                  <a:srgbClr val="475569"/>
                </a:solidFill>
                <a:latin typeface="Calibri"/>
              </a:rPr>
              <a:t>Does mapping classical data into quantum Hilbert space via parameterized entangling circuits induce an alternative geometric landscape that surfaces genuine complementary exploratory candidates?</a:t>
            </a:r>
          </a:p>
        </p:txBody>
      </p:sp>
      <p:sp>
        <p:nvSpPr>
          <p:cNvPr id="8" name="Rounded Rectangle 7"/>
          <p:cNvSpPr/>
          <p:nvPr/>
        </p:nvSpPr>
        <p:spPr>
          <a:xfrm>
            <a:off x="6217920" y="146304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320040"/>
          </a:xfrm>
          <a:prstGeom prst="rect">
            <a:avLst/>
          </a:prstGeom>
          <a:noFill/>
        </p:spPr>
        <p:txBody>
          <a:bodyPr wrap="square" lIns="0" rIns="0" tIns="0" bIns="0">
            <a:spAutoFit/>
          </a:bodyPr>
          <a:lstStyle/>
          <a:p>
            <a:pPr>
              <a:defRPr sz="1300" b="1">
                <a:solidFill>
                  <a:srgbClr val="1E293B"/>
                </a:solidFill>
                <a:latin typeface="Calibri"/>
              </a:defRPr>
            </a:pPr>
            <a:r>
              <a:t>The Quantum Hilbert Space Hypothesis</a:t>
            </a:r>
          </a:p>
        </p:txBody>
      </p:sp>
      <p:sp>
        <p:nvSpPr>
          <p:cNvPr id="10" name="TextBox 9"/>
          <p:cNvSpPr txBox="1"/>
          <p:nvPr/>
        </p:nvSpPr>
        <p:spPr>
          <a:xfrm>
            <a:off x="6400800" y="1920240"/>
            <a:ext cx="4846320" cy="4114800"/>
          </a:xfrm>
          <a:prstGeom prst="rect">
            <a:avLst/>
          </a:prstGeom>
          <a:noFill/>
        </p:spPr>
        <p:txBody>
          <a:bodyPr wrap="square">
            <a:spAutoFit/>
          </a:bodyPr>
          <a:lstStyle/>
          <a:p>
            <a:pPr>
              <a:spcAft>
                <a:spcPts val="1200"/>
              </a:spcAft>
            </a:pPr>
            <a:r>
              <a:rPr b="1" sz="1100">
                <a:solidFill>
                  <a:srgbClr val="1E293B"/>
                </a:solidFill>
                <a:latin typeface="Calibri"/>
              </a:rPr>
              <a:t>Non-Linear State Mapping: </a:t>
            </a:r>
            <a:r>
              <a:rPr sz="1100">
                <a:solidFill>
                  <a:srgbClr val="475569"/>
                </a:solidFill>
                <a:latin typeface="Calibri"/>
              </a:rPr>
              <a:t>Classical vectors x in R^d are mapped to normalized quantum states |ψ(x)⟩ in 2^n dimensional Hilbert space.</a:t>
            </a:r>
          </a:p>
          <a:p>
            <a:pPr>
              <a:spcAft>
                <a:spcPts val="1200"/>
              </a:spcAft>
            </a:pPr>
            <a:r>
              <a:rPr b="1" sz="1100">
                <a:solidFill>
                  <a:srgbClr val="1E293B"/>
                </a:solidFill>
                <a:latin typeface="Calibri"/>
              </a:rPr>
              <a:t>Multi-Qubit Entanglement: </a:t>
            </a:r>
            <a:r>
              <a:rPr sz="1100">
                <a:solidFill>
                  <a:srgbClr val="475569"/>
                </a:solidFill>
                <a:latin typeface="Calibri"/>
              </a:rPr>
              <a:t>Entangling gates (e.g., Controlled-Z phase rotations) inject non-local correlations between tabular dimensions invisible to marginal analysis.</a:t>
            </a:r>
          </a:p>
          <a:p>
            <a:pPr>
              <a:spcAft>
                <a:spcPts val="1200"/>
              </a:spcAft>
            </a:pPr>
            <a:r>
              <a:rPr b="1" sz="1100">
                <a:solidFill>
                  <a:srgbClr val="1E293B"/>
                </a:solidFill>
                <a:latin typeface="Calibri"/>
              </a:rPr>
              <a:t>Fidelity as Similarity: </a:t>
            </a:r>
            <a:r>
              <a:rPr sz="1100">
                <a:solidFill>
                  <a:srgbClr val="475569"/>
                </a:solidFill>
                <a:latin typeface="Calibri"/>
              </a:rPr>
              <a:t>Inner product fidelity K_ij = |⟨ψ(x_i)|ψ(x_j)⟩|^2 serves as a natural, bounded similarity metric in [0, 1].</a:t>
            </a:r>
          </a:p>
          <a:p>
            <a:pPr>
              <a:spcAft>
                <a:spcPts val="1200"/>
              </a:spcAft>
            </a:pPr>
            <a:r>
              <a:rPr b="1" sz="1100">
                <a:solidFill>
                  <a:srgbClr val="1E293B"/>
                </a:solidFill>
                <a:latin typeface="Calibri"/>
              </a:rPr>
              <a:t>Exploratory Hypothesis: </a:t>
            </a:r>
            <a:r>
              <a:rPr sz="1100">
                <a:solidFill>
                  <a:srgbClr val="475569"/>
                </a:solidFill>
                <a:latin typeface="Calibri"/>
              </a:rPr>
              <a:t>Points typical in Euclidean space may experience quantum phase interference, appearing isolated or exhibiting high neighborhood variance in Hilbert space.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THEORETICAL CONTEXT &amp; CONTRIBUTIONS</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Addressing Gaps in Quantum Machine Learning</a:t>
            </a:r>
          </a:p>
          <a:p>
            <a:pPr>
              <a:defRPr sz="1200">
                <a:solidFill>
                  <a:srgbClr val="475569"/>
                </a:solidFill>
                <a:latin typeface="Calibri"/>
              </a:defRPr>
            </a:pPr>
            <a:r>
              <a:t>Moving beyond supervised classification to unsupervised exploratory data analysis.</a:t>
            </a:r>
          </a:p>
        </p:txBody>
      </p:sp>
      <p:sp>
        <p:nvSpPr>
          <p:cNvPr id="5" name="Rounded Rectangle 4"/>
          <p:cNvSpPr/>
          <p:nvPr/>
        </p:nvSpPr>
        <p:spPr>
          <a:xfrm>
            <a:off x="731520" y="1371600"/>
            <a:ext cx="3383280" cy="11887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3108960" cy="1005840"/>
          </a:xfrm>
          <a:prstGeom prst="rect">
            <a:avLst/>
          </a:prstGeom>
          <a:noFill/>
        </p:spPr>
        <p:txBody>
          <a:bodyPr wrap="square" lIns="0" rIns="0" tIns="0" bIns="0">
            <a:spAutoFit/>
          </a:bodyPr>
          <a:lstStyle/>
          <a:p>
            <a:pPr>
              <a:defRPr sz="2400" b="1">
                <a:solidFill>
                  <a:srgbClr val="0284C7"/>
                </a:solidFill>
                <a:latin typeface="Calibri"/>
              </a:defRPr>
            </a:pPr>
            <a:r>
              <a:t>Prior QML Focus</a:t>
            </a:r>
          </a:p>
          <a:p>
            <a:pPr>
              <a:defRPr sz="1100" b="1">
                <a:solidFill>
                  <a:srgbClr val="1E293B"/>
                </a:solidFill>
                <a:latin typeface="Calibri"/>
              </a:defRPr>
            </a:pPr>
            <a:r>
              <a:t>Supervised Benchmarks</a:t>
            </a:r>
          </a:p>
          <a:p>
            <a:pPr>
              <a:defRPr sz="950">
                <a:solidFill>
                  <a:srgbClr val="475569"/>
                </a:solidFill>
                <a:latin typeface="Calibri"/>
              </a:defRPr>
            </a:pPr>
            <a:r>
              <a:t>Emphasis on classification accuracy &amp; variational optimization.</a:t>
            </a:r>
          </a:p>
        </p:txBody>
      </p:sp>
      <p:sp>
        <p:nvSpPr>
          <p:cNvPr id="7" name="Rounded Rectangle 6"/>
          <p:cNvSpPr/>
          <p:nvPr/>
        </p:nvSpPr>
        <p:spPr>
          <a:xfrm>
            <a:off x="4389120" y="1371600"/>
            <a:ext cx="3383280" cy="11887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63040"/>
            <a:ext cx="3108960" cy="1005840"/>
          </a:xfrm>
          <a:prstGeom prst="rect">
            <a:avLst/>
          </a:prstGeom>
          <a:noFill/>
        </p:spPr>
        <p:txBody>
          <a:bodyPr wrap="square" lIns="0" rIns="0" tIns="0" bIns="0">
            <a:spAutoFit/>
          </a:bodyPr>
          <a:lstStyle/>
          <a:p>
            <a:pPr>
              <a:defRPr sz="2400" b="1">
                <a:solidFill>
                  <a:srgbClr val="0284C7"/>
                </a:solidFill>
                <a:latin typeface="Calibri"/>
              </a:defRPr>
            </a:pPr>
            <a:r>
              <a:t>Unexplored Gap</a:t>
            </a:r>
          </a:p>
          <a:p>
            <a:pPr>
              <a:defRPr sz="1100" b="1">
                <a:solidFill>
                  <a:srgbClr val="1E293B"/>
                </a:solidFill>
                <a:latin typeface="Calibri"/>
              </a:defRPr>
            </a:pPr>
            <a:r>
              <a:t>Unsupervised EDA</a:t>
            </a:r>
          </a:p>
          <a:p>
            <a:pPr>
              <a:defRPr sz="950">
                <a:solidFill>
                  <a:srgbClr val="475569"/>
                </a:solidFill>
                <a:latin typeface="Calibri"/>
              </a:defRPr>
            </a:pPr>
            <a:r>
              <a:t>Representation divergence &amp; exploratory anomaly profiling.</a:t>
            </a:r>
          </a:p>
        </p:txBody>
      </p:sp>
      <p:sp>
        <p:nvSpPr>
          <p:cNvPr id="9" name="Rounded Rectangle 8"/>
          <p:cNvSpPr/>
          <p:nvPr/>
        </p:nvSpPr>
        <p:spPr>
          <a:xfrm>
            <a:off x="8046720" y="1371600"/>
            <a:ext cx="3383280" cy="11887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463040"/>
            <a:ext cx="3108960" cy="1005840"/>
          </a:xfrm>
          <a:prstGeom prst="rect">
            <a:avLst/>
          </a:prstGeom>
          <a:noFill/>
        </p:spPr>
        <p:txBody>
          <a:bodyPr wrap="square" lIns="0" rIns="0" tIns="0" bIns="0">
            <a:spAutoFit/>
          </a:bodyPr>
          <a:lstStyle/>
          <a:p>
            <a:pPr>
              <a:defRPr sz="2400" b="1">
                <a:solidFill>
                  <a:srgbClr val="0284C7"/>
                </a:solidFill>
                <a:latin typeface="Calibri"/>
              </a:defRPr>
            </a:pPr>
            <a:r>
              <a:t>Our Contribution</a:t>
            </a:r>
          </a:p>
          <a:p>
            <a:pPr>
              <a:defRPr sz="1100" b="1">
                <a:solidFill>
                  <a:srgbClr val="1E293B"/>
                </a:solidFill>
                <a:latin typeface="Calibri"/>
              </a:defRPr>
            </a:pPr>
            <a:r>
              <a:t>The QI_v2 Framework</a:t>
            </a:r>
          </a:p>
          <a:p>
            <a:pPr>
              <a:defRPr sz="950">
                <a:solidFill>
                  <a:srgbClr val="475569"/>
                </a:solidFill>
                <a:latin typeface="Calibri"/>
              </a:defRPr>
            </a:pPr>
            <a:r>
              <a:t>Decoupling internal quantum structure from metric disagreement.</a:t>
            </a:r>
          </a:p>
        </p:txBody>
      </p:sp>
      <p:sp>
        <p:nvSpPr>
          <p:cNvPr id="11" name="Rounded Rectangle 10"/>
          <p:cNvSpPr/>
          <p:nvPr/>
        </p:nvSpPr>
        <p:spPr>
          <a:xfrm>
            <a:off x="731520" y="2743200"/>
            <a:ext cx="106984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0360"/>
            <a:ext cx="10332720" cy="320040"/>
          </a:xfrm>
          <a:prstGeom prst="rect">
            <a:avLst/>
          </a:prstGeom>
          <a:noFill/>
        </p:spPr>
        <p:txBody>
          <a:bodyPr wrap="square" lIns="0" rIns="0" tIns="0" bIns="0">
            <a:spAutoFit/>
          </a:bodyPr>
          <a:lstStyle/>
          <a:p>
            <a:pPr>
              <a:defRPr sz="1300" b="1">
                <a:solidFill>
                  <a:srgbClr val="1E293B"/>
                </a:solidFill>
                <a:latin typeface="Calibri"/>
              </a:defRPr>
            </a:pPr>
            <a:r>
              <a:t>Primary Scientific Contributions of This Work</a:t>
            </a:r>
          </a:p>
        </p:txBody>
      </p:sp>
      <p:sp>
        <p:nvSpPr>
          <p:cNvPr id="13" name="TextBox 12"/>
          <p:cNvSpPr txBox="1"/>
          <p:nvPr/>
        </p:nvSpPr>
        <p:spPr>
          <a:xfrm>
            <a:off x="1005840" y="3200400"/>
            <a:ext cx="10149840" cy="2834640"/>
          </a:xfrm>
          <a:prstGeom prst="rect">
            <a:avLst/>
          </a:prstGeom>
          <a:noFill/>
        </p:spPr>
        <p:txBody>
          <a:bodyPr wrap="square">
            <a:spAutoFit/>
          </a:bodyPr>
          <a:lstStyle/>
          <a:p>
            <a:pPr>
              <a:spcAft>
                <a:spcPts val="1000"/>
              </a:spcAft>
            </a:pPr>
            <a:r>
              <a:rPr b="1" sz="1100">
                <a:solidFill>
                  <a:srgbClr val="1E293B"/>
                </a:solidFill>
                <a:latin typeface="Calibri"/>
              </a:rPr>
              <a:t>1. Formalized Representation Divergence Quantification: </a:t>
            </a:r>
            <a:r>
              <a:rPr sz="1100">
                <a:solidFill>
                  <a:srgbClr val="475569"/>
                </a:solidFill>
                <a:latin typeface="Calibri"/>
              </a:rPr>
              <a:t>Established a rigorous protocol combining Centered Kernel Alignment (CKA) and local neighborhood graph overlaps (k-NN Jaccard) to quantify geometric displacement.</a:t>
            </a:r>
          </a:p>
          <a:p>
            <a:pPr>
              <a:spcAft>
                <a:spcPts val="1000"/>
              </a:spcAft>
            </a:pPr>
            <a:r>
              <a:rPr b="1" sz="1100">
                <a:solidFill>
                  <a:srgbClr val="1E293B"/>
                </a:solidFill>
                <a:latin typeface="Calibri"/>
              </a:rPr>
              <a:t>2. Mathematical Formulation of Q-Interestingness (QI_v2): </a:t>
            </a:r>
            <a:r>
              <a:rPr sz="1100">
                <a:solidFill>
                  <a:srgbClr val="475569"/>
                </a:solidFill>
                <a:latin typeface="Calibri"/>
              </a:rPr>
              <a:t>Engineered a decoupled framework separating internal Hilbert space isolation (Quantum Unusualness, QU) from cross-space tension (Representation Disagreement, RD).</a:t>
            </a:r>
          </a:p>
          <a:p>
            <a:pPr>
              <a:spcAft>
                <a:spcPts val="1000"/>
              </a:spcAft>
            </a:pPr>
            <a:r>
              <a:rPr b="1" sz="1100">
                <a:solidFill>
                  <a:srgbClr val="1E293B"/>
                </a:solidFill>
                <a:latin typeface="Calibri"/>
              </a:rPr>
              <a:t>3. Classical Non-Linear Controls: </a:t>
            </a:r>
            <a:r>
              <a:rPr sz="1100">
                <a:solidFill>
                  <a:srgbClr val="475569"/>
                </a:solidFill>
                <a:latin typeface="Calibri"/>
              </a:rPr>
              <a:t>First study to benchmark quantum kernel divergence against Polynomial (degree 3) and Random Fourier Features, proving quantum Hilbert divergence is &gt;2x classical non-linear expansion.</a:t>
            </a:r>
          </a:p>
          <a:p>
            <a:pPr>
              <a:spcAft>
                <a:spcPts val="1000"/>
              </a:spcAft>
            </a:pPr>
            <a:r>
              <a:rPr b="1" sz="1100">
                <a:solidFill>
                  <a:srgbClr val="1E293B"/>
                </a:solidFill>
                <a:latin typeface="Calibri"/>
              </a:rPr>
              <a:t>4. Rigorous Statistical Permutation Validation: </a:t>
            </a:r>
            <a:r>
              <a:rPr sz="1100">
                <a:solidFill>
                  <a:srgbClr val="475569"/>
                </a:solidFill>
                <a:latin typeface="Calibri"/>
              </a:rPr>
              <a:t>Evaluated a full B=100 quantum permutation null distribution (z = +8.91, p = 0.0099), providing formal non-parametric proof that classical-quantum divergence is non-random.</a:t>
            </a:r>
          </a:p>
          <a:p>
            <a:pPr>
              <a:spcAft>
                <a:spcPts val="1000"/>
              </a:spcAft>
            </a:pPr>
            <a:r>
              <a:rPr b="1" sz="1100">
                <a:solidFill>
                  <a:srgbClr val="1E293B"/>
                </a:solidFill>
                <a:latin typeface="Calibri"/>
              </a:rPr>
              <a:t>5. Cross-Domain &amp; Hardware Noise Validation: </a:t>
            </a:r>
            <a:r>
              <a:rPr sz="1100">
                <a:solidFill>
                  <a:srgbClr val="475569"/>
                </a:solidFill>
                <a:latin typeface="Calibri"/>
              </a:rPr>
              <a:t>Demonstrated domain invariance across 3 real-world datasets and confirmed pre-hardware viability across 1024, 4096, and 8192 measurement shots.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SYSTEM ARCHITECTURE &amp; QUANTUM ENCODING</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ZZFeatureMap &amp; State Fidelity Kernel</a:t>
            </a:r>
          </a:p>
          <a:p>
            <a:pPr>
              <a:defRPr sz="1200">
                <a:solidFill>
                  <a:srgbClr val="475569"/>
                </a:solidFill>
                <a:latin typeface="Calibri"/>
              </a:defRPr>
            </a:pPr>
            <a:r>
              <a:t>Mathematical formulation of continuous classical feature injection into n-qubit Hilbert space.</a:t>
            </a:r>
          </a:p>
        </p:txBody>
      </p:sp>
      <p:sp>
        <p:nvSpPr>
          <p:cNvPr id="5" name="Rounded Rectangle 4"/>
          <p:cNvSpPr/>
          <p:nvPr/>
        </p:nvSpPr>
        <p:spPr>
          <a:xfrm>
            <a:off x="731520" y="1463040"/>
            <a:ext cx="54864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5120640" cy="320040"/>
          </a:xfrm>
          <a:prstGeom prst="rect">
            <a:avLst/>
          </a:prstGeom>
          <a:noFill/>
        </p:spPr>
        <p:txBody>
          <a:bodyPr wrap="square" lIns="0" rIns="0" tIns="0" bIns="0">
            <a:spAutoFit/>
          </a:bodyPr>
          <a:lstStyle/>
          <a:p>
            <a:pPr>
              <a:defRPr sz="1300" b="1">
                <a:solidFill>
                  <a:srgbClr val="1E293B"/>
                </a:solidFill>
                <a:latin typeface="Calibri"/>
              </a:defRPr>
            </a:pPr>
            <a:r>
              <a:t>Circuit Encoding Formulation</a:t>
            </a:r>
          </a:p>
        </p:txBody>
      </p:sp>
      <p:sp>
        <p:nvSpPr>
          <p:cNvPr id="7" name="TextBox 6"/>
          <p:cNvSpPr txBox="1"/>
          <p:nvPr/>
        </p:nvSpPr>
        <p:spPr>
          <a:xfrm>
            <a:off x="914400" y="1920240"/>
            <a:ext cx="5120640" cy="4114800"/>
          </a:xfrm>
          <a:prstGeom prst="rect">
            <a:avLst/>
          </a:prstGeom>
          <a:noFill/>
        </p:spPr>
        <p:txBody>
          <a:bodyPr wrap="square">
            <a:spAutoFit/>
          </a:bodyPr>
          <a:lstStyle/>
          <a:p>
            <a:pPr>
              <a:spcAft>
                <a:spcPts val="1200"/>
              </a:spcAft>
            </a:pPr>
            <a:r>
              <a:rPr b="1" sz="1100">
                <a:solidFill>
                  <a:srgbClr val="1E293B"/>
                </a:solidFill>
                <a:latin typeface="Calibri"/>
              </a:rPr>
              <a:t>Feature Scaling to Phase Angles: </a:t>
            </a:r>
            <a:r>
              <a:rPr sz="1100">
                <a:solidFill>
                  <a:srgbClr val="475569"/>
                </a:solidFill>
                <a:latin typeface="Calibri"/>
              </a:rPr>
              <a:t>Features x in R^4 are scaled to [0, π] via MinMaxScaler: x_j = π * (x_j - min) / (max - min).</a:t>
            </a:r>
          </a:p>
          <a:p>
            <a:pPr>
              <a:spcAft>
                <a:spcPts val="1200"/>
              </a:spcAft>
            </a:pPr>
            <a:r>
              <a:rPr b="1" sz="1100">
                <a:solidFill>
                  <a:srgbClr val="1E293B"/>
                </a:solidFill>
                <a:latin typeface="Calibri"/>
              </a:rPr>
              <a:t>Unitary State Evolution: </a:t>
            </a:r>
            <a:r>
              <a:rPr sz="1100">
                <a:solidFill>
                  <a:srgbClr val="475569"/>
                </a:solidFill>
                <a:latin typeface="Calibri"/>
              </a:rPr>
              <a:t>|ψ(x)⟩ = U_Φ(x) |0⟩^⊗n, where U_Φ(x) = exp(i ∑_j x_j Z_j + ∑_{j&lt;k} (π - x_j)(π - x_k) Z_j Z_k).</a:t>
            </a:r>
          </a:p>
          <a:p>
            <a:pPr>
              <a:spcAft>
                <a:spcPts val="1200"/>
              </a:spcAft>
            </a:pPr>
            <a:r>
              <a:rPr b="1" sz="1100">
                <a:solidFill>
                  <a:srgbClr val="1E293B"/>
                </a:solidFill>
                <a:latin typeface="Calibri"/>
              </a:rPr>
              <a:t>Entanglement Topology: </a:t>
            </a:r>
            <a:r>
              <a:rPr sz="1100">
                <a:solidFill>
                  <a:srgbClr val="475569"/>
                </a:solidFill>
                <a:latin typeface="Calibri"/>
              </a:rPr>
              <a:t>Linear nearest-neighbor entanglement: pairs (q0, q1), (q1, q2), (q2, q3) coupled via Controlled-Phase (CPHASE) gates.</a:t>
            </a:r>
          </a:p>
          <a:p>
            <a:pPr>
              <a:spcAft>
                <a:spcPts val="1200"/>
              </a:spcAft>
            </a:pPr>
            <a:r>
              <a:rPr b="1" sz="1100">
                <a:solidFill>
                  <a:srgbClr val="1E293B"/>
                </a:solidFill>
                <a:latin typeface="Calibri"/>
              </a:rPr>
              <a:t>Circuit Specifications: </a:t>
            </a:r>
            <a:r>
              <a:rPr sz="1100">
                <a:solidFill>
                  <a:srgbClr val="475569"/>
                </a:solidFill>
                <a:latin typeface="Calibri"/>
              </a:rPr>
              <a:t>4 qubits, depth = 19 (reps = 2), 4 parameterized single-qubit rotations, 3 two-qubit entangling gates per repetition.</a:t>
            </a:r>
          </a:p>
          <a:p>
            <a:pPr>
              <a:spcAft>
                <a:spcPts val="1200"/>
              </a:spcAft>
            </a:pPr>
            <a:r>
              <a:rPr b="1" sz="1100">
                <a:solidFill>
                  <a:srgbClr val="1E293B"/>
                </a:solidFill>
                <a:latin typeface="Calibri"/>
              </a:rPr>
              <a:t>Kernel Fidelity Evaluation: </a:t>
            </a:r>
            <a:r>
              <a:rPr sz="1100">
                <a:solidFill>
                  <a:srgbClr val="475569"/>
                </a:solidFill>
                <a:latin typeface="Calibri"/>
              </a:rPr>
              <a:t>K_ij = |⟨ψ(x_i)|ψ(x_j)⟩|^2 evaluated via Qiskit's ComputeUncompute with StatevectorSampler backend.</a:t>
            </a:r>
          </a:p>
        </p:txBody>
      </p:sp>
      <p:sp>
        <p:nvSpPr>
          <p:cNvPr id="8" name="Rounded Rectangle 7"/>
          <p:cNvSpPr/>
          <p:nvPr/>
        </p:nvSpPr>
        <p:spPr>
          <a:xfrm>
            <a:off x="6492240" y="1463040"/>
            <a:ext cx="493776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600200"/>
            <a:ext cx="4572000" cy="320040"/>
          </a:xfrm>
          <a:prstGeom prst="rect">
            <a:avLst/>
          </a:prstGeom>
          <a:noFill/>
        </p:spPr>
        <p:txBody>
          <a:bodyPr wrap="square" lIns="0" rIns="0" tIns="0" bIns="0">
            <a:spAutoFit/>
          </a:bodyPr>
          <a:lstStyle/>
          <a:p>
            <a:pPr>
              <a:defRPr sz="1300" b="1">
                <a:solidFill>
                  <a:srgbClr val="1E293B"/>
                </a:solidFill>
                <a:latin typeface="Calibri"/>
              </a:defRPr>
            </a:pPr>
            <a:r>
              <a:t>Architectural Flow</a:t>
            </a:r>
          </a:p>
        </p:txBody>
      </p:sp>
      <p:sp>
        <p:nvSpPr>
          <p:cNvPr id="10" name="TextBox 9"/>
          <p:cNvSpPr txBox="1"/>
          <p:nvPr/>
        </p:nvSpPr>
        <p:spPr>
          <a:xfrm>
            <a:off x="6675120" y="1920240"/>
            <a:ext cx="4572000" cy="4114800"/>
          </a:xfrm>
          <a:prstGeom prst="rect">
            <a:avLst/>
          </a:prstGeom>
          <a:noFill/>
        </p:spPr>
        <p:txBody>
          <a:bodyPr wrap="square">
            <a:spAutoFit/>
          </a:bodyPr>
          <a:lstStyle/>
          <a:p>
            <a:pPr>
              <a:spcAft>
                <a:spcPts val="1400"/>
              </a:spcAft>
            </a:pPr>
            <a:r>
              <a:rPr b="1" sz="1100">
                <a:solidFill>
                  <a:srgbClr val="1E293B"/>
                </a:solidFill>
                <a:latin typeface="Calibri"/>
              </a:rPr>
              <a:t>Input Data Vector: </a:t>
            </a:r>
            <a:r>
              <a:rPr sz="1100">
                <a:solidFill>
                  <a:srgbClr val="475569"/>
                </a:solidFill>
                <a:latin typeface="Calibri"/>
              </a:rPr>
              <a:t>x = [alcohol, volatile_acidity, sulphates, total_sulfur_dioxide] in R^4</a:t>
            </a:r>
          </a:p>
          <a:p>
            <a:pPr>
              <a:spcAft>
                <a:spcPts val="1400"/>
              </a:spcAft>
            </a:pPr>
            <a:r>
              <a:rPr b="1" sz="1100">
                <a:solidFill>
                  <a:srgbClr val="1E293B"/>
                </a:solidFill>
                <a:latin typeface="Calibri"/>
              </a:rPr>
              <a:t>Normalization Pipeline: </a:t>
            </a:r>
            <a:r>
              <a:rPr sz="1100">
                <a:solidFill>
                  <a:srgbClr val="475569"/>
                </a:solidFill>
                <a:latin typeface="Calibri"/>
              </a:rPr>
              <a:t>MinMaxScaler -&gt; Phase Rotation [0, π] (no angle wrapping)</a:t>
            </a:r>
          </a:p>
          <a:p>
            <a:pPr>
              <a:spcAft>
                <a:spcPts val="1400"/>
              </a:spcAft>
            </a:pPr>
            <a:r>
              <a:rPr b="1" sz="1100">
                <a:solidFill>
                  <a:srgbClr val="1E293B"/>
                </a:solidFill>
                <a:latin typeface="Calibri"/>
              </a:rPr>
              <a:t>Quantum Circuit: </a:t>
            </a:r>
            <a:r>
              <a:rPr sz="1100">
                <a:solidFill>
                  <a:srgbClr val="475569"/>
                </a:solidFill>
                <a:latin typeface="Calibri"/>
              </a:rPr>
              <a:t>4-Qubit Circuit -&gt; Hadamard Layer -&gt; Rz(2x) -&gt; Linear CNOT/Rz/CNOT Entanglers -&gt; Repetition 2</a:t>
            </a:r>
          </a:p>
          <a:p>
            <a:pPr>
              <a:spcAft>
                <a:spcPts val="1400"/>
              </a:spcAft>
            </a:pPr>
            <a:r>
              <a:rPr b="1" sz="1100">
                <a:solidFill>
                  <a:srgbClr val="1E293B"/>
                </a:solidFill>
                <a:latin typeface="Calibri"/>
              </a:rPr>
              <a:t>Output Statevector: </a:t>
            </a:r>
            <a:r>
              <a:rPr sz="1100">
                <a:solidFill>
                  <a:srgbClr val="475569"/>
                </a:solidFill>
                <a:latin typeface="Calibri"/>
              </a:rPr>
              <a:t>|ψ(x)⟩ in C^16 (complex state amplitudes on 16 computational basis states)</a:t>
            </a:r>
          </a:p>
          <a:p>
            <a:pPr>
              <a:spcAft>
                <a:spcPts val="1400"/>
              </a:spcAft>
            </a:pPr>
            <a:r>
              <a:rPr b="1" sz="1100">
                <a:solidFill>
                  <a:srgbClr val="1E293B"/>
                </a:solidFill>
                <a:latin typeface="Calibri"/>
              </a:rPr>
              <a:t>Fidelity Kernel Matrix: </a:t>
            </a:r>
            <a:r>
              <a:rPr sz="1100">
                <a:solidFill>
                  <a:srgbClr val="475569"/>
                </a:solidFill>
                <a:latin typeface="Calibri"/>
              </a:rPr>
              <a:t>Pairwise N x N symmetric Gram matrix K, K_ii = 1.0, strictly positive semi-definite (PSD)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MATHEMATICAL FRAMEWORK</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Decoupling Quantum Unusualness &amp; Representation Disagreement</a:t>
            </a:r>
          </a:p>
          <a:p>
            <a:pPr>
              <a:defRPr sz="1200">
                <a:solidFill>
                  <a:srgbClr val="475569"/>
                </a:solidFill>
                <a:latin typeface="Calibri"/>
              </a:defRPr>
            </a:pPr>
            <a:r>
              <a:t>Formal definition of the composite Q-Interestingness (QI_v2) exploratory metric.</a:t>
            </a:r>
          </a:p>
        </p:txBody>
      </p:sp>
      <p:sp>
        <p:nvSpPr>
          <p:cNvPr id="5" name="Rounded Rectangle 4"/>
          <p:cNvSpPr/>
          <p:nvPr/>
        </p:nvSpPr>
        <p:spPr>
          <a:xfrm>
            <a:off x="731520" y="1463040"/>
            <a:ext cx="521208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20040"/>
          </a:xfrm>
          <a:prstGeom prst="rect">
            <a:avLst/>
          </a:prstGeom>
          <a:noFill/>
        </p:spPr>
        <p:txBody>
          <a:bodyPr wrap="square" lIns="0" rIns="0" tIns="0" bIns="0">
            <a:spAutoFit/>
          </a:bodyPr>
          <a:lstStyle/>
          <a:p>
            <a:pPr>
              <a:defRPr sz="1300" b="1">
                <a:solidFill>
                  <a:srgbClr val="1E293B"/>
                </a:solidFill>
                <a:latin typeface="Calibri"/>
              </a:defRPr>
            </a:pPr>
            <a:r>
              <a:t>1. Quantum Unusualness (QU)</a:t>
            </a:r>
          </a:p>
        </p:txBody>
      </p:sp>
      <p:sp>
        <p:nvSpPr>
          <p:cNvPr id="7" name="TextBox 6"/>
          <p:cNvSpPr txBox="1"/>
          <p:nvPr/>
        </p:nvSpPr>
        <p:spPr>
          <a:xfrm>
            <a:off x="914400" y="1920240"/>
            <a:ext cx="4846320" cy="3108960"/>
          </a:xfrm>
          <a:prstGeom prst="rect">
            <a:avLst/>
          </a:prstGeom>
          <a:noFill/>
        </p:spPr>
        <p:txBody>
          <a:bodyPr wrap="square">
            <a:spAutoFit/>
          </a:bodyPr>
          <a:lstStyle/>
          <a:p>
            <a:pPr>
              <a:spcAft>
                <a:spcPts val="1000"/>
              </a:spcAft>
            </a:pPr>
            <a:r>
              <a:rPr b="1" sz="1100">
                <a:solidFill>
                  <a:srgbClr val="1E293B"/>
                </a:solidFill>
                <a:latin typeface="Calibri"/>
              </a:rPr>
              <a:t>QU(x) Formulation: </a:t>
            </a:r>
            <a:r>
              <a:rPr sz="1100">
                <a:solidFill>
                  <a:srgbClr val="475569"/>
                </a:solidFill>
                <a:latin typeface="Calibri"/>
              </a:rPr>
              <a:t>QU(x) = 0.5 * QAS(x) + 0.3 * N(x) + 0.2 * B(x)</a:t>
            </a:r>
          </a:p>
          <a:p>
            <a:pPr>
              <a:spcAft>
                <a:spcPts val="1000"/>
              </a:spcAft>
            </a:pPr>
            <a:r>
              <a:rPr b="1" sz="1100">
                <a:solidFill>
                  <a:srgbClr val="1E293B"/>
                </a:solidFill>
                <a:latin typeface="Calibri"/>
              </a:rPr>
              <a:t>Global Quantum Anomaly (QAS): </a:t>
            </a:r>
            <a:r>
              <a:rPr sz="1100">
                <a:solidFill>
                  <a:srgbClr val="475569"/>
                </a:solidFill>
                <a:latin typeface="Calibri"/>
              </a:rPr>
              <a:t>QAS(x_i) = 1 - (1/(N-1)) * ∑_{j ≠ i} K_ij  [distance to Hilbert centroid]</a:t>
            </a:r>
          </a:p>
          <a:p>
            <a:pPr>
              <a:spcAft>
                <a:spcPts val="1000"/>
              </a:spcAft>
            </a:pPr>
            <a:r>
              <a:rPr b="1" sz="1100">
                <a:solidFill>
                  <a:srgbClr val="1E293B"/>
                </a:solidFill>
                <a:latin typeface="Calibri"/>
              </a:rPr>
              <a:t>Local Novelty (N): </a:t>
            </a:r>
            <a:r>
              <a:rPr sz="1100">
                <a:solidFill>
                  <a:srgbClr val="475569"/>
                </a:solidFill>
                <a:latin typeface="Calibri"/>
              </a:rPr>
              <a:t>N(x_i) = 1 - (1/k) * ∑_{j in Top-k(i)} K_ij  [isolation from k=5 nearest quantum neighbors]</a:t>
            </a:r>
          </a:p>
          <a:p>
            <a:pPr>
              <a:spcAft>
                <a:spcPts val="1000"/>
              </a:spcAft>
            </a:pPr>
            <a:r>
              <a:rPr b="1" sz="1100">
                <a:solidFill>
                  <a:srgbClr val="1E293B"/>
                </a:solidFill>
                <a:latin typeface="Calibri"/>
              </a:rPr>
              <a:t>Neighborhood Heterogeneity (B): </a:t>
            </a:r>
            <a:r>
              <a:rPr sz="1100">
                <a:solidFill>
                  <a:srgbClr val="475569"/>
                </a:solidFill>
                <a:latin typeface="Calibri"/>
              </a:rPr>
              <a:t>B(x_i) = Var_{j ≠ i}(K_ij)  [variance of affinities, diagonal excluded via np.nanvar]</a:t>
            </a:r>
          </a:p>
        </p:txBody>
      </p:sp>
      <p:sp>
        <p:nvSpPr>
          <p:cNvPr id="8" name="Rounded Rectangle 7"/>
          <p:cNvSpPr/>
          <p:nvPr/>
        </p:nvSpPr>
        <p:spPr>
          <a:xfrm>
            <a:off x="6217920" y="1463040"/>
            <a:ext cx="521208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320040"/>
          </a:xfrm>
          <a:prstGeom prst="rect">
            <a:avLst/>
          </a:prstGeom>
          <a:noFill/>
        </p:spPr>
        <p:txBody>
          <a:bodyPr wrap="square" lIns="0" rIns="0" tIns="0" bIns="0">
            <a:spAutoFit/>
          </a:bodyPr>
          <a:lstStyle/>
          <a:p>
            <a:pPr>
              <a:defRPr sz="1300" b="1">
                <a:solidFill>
                  <a:srgbClr val="1E293B"/>
                </a:solidFill>
                <a:latin typeface="Calibri"/>
              </a:defRPr>
            </a:pPr>
            <a:r>
              <a:t>2. Representation Disagreement (RD)</a:t>
            </a:r>
          </a:p>
        </p:txBody>
      </p:sp>
      <p:sp>
        <p:nvSpPr>
          <p:cNvPr id="10" name="TextBox 9"/>
          <p:cNvSpPr txBox="1"/>
          <p:nvPr/>
        </p:nvSpPr>
        <p:spPr>
          <a:xfrm>
            <a:off x="6400800" y="1920240"/>
            <a:ext cx="4846320" cy="3108960"/>
          </a:xfrm>
          <a:prstGeom prst="rect">
            <a:avLst/>
          </a:prstGeom>
          <a:noFill/>
        </p:spPr>
        <p:txBody>
          <a:bodyPr wrap="square">
            <a:spAutoFit/>
          </a:bodyPr>
          <a:lstStyle/>
          <a:p>
            <a:pPr>
              <a:spcAft>
                <a:spcPts val="1000"/>
              </a:spcAft>
            </a:pPr>
            <a:r>
              <a:rPr b="1" sz="1100">
                <a:solidFill>
                  <a:srgbClr val="1E293B"/>
                </a:solidFill>
                <a:latin typeface="Calibri"/>
              </a:rPr>
              <a:t>RD(x) Formulation: </a:t>
            </a:r>
            <a:r>
              <a:rPr sz="1100">
                <a:solidFill>
                  <a:srgbClr val="475569"/>
                </a:solidFill>
                <a:latin typeface="Calibri"/>
              </a:rPr>
              <a:t>RD(x) = 0.5 * |QAS(x) - CAS(x)| + 0.5 * (1 - J_k(x))</a:t>
            </a:r>
          </a:p>
          <a:p>
            <a:pPr>
              <a:spcAft>
                <a:spcPts val="1000"/>
              </a:spcAft>
            </a:pPr>
            <a:r>
              <a:rPr b="1" sz="1100">
                <a:solidFill>
                  <a:srgbClr val="1E293B"/>
                </a:solidFill>
                <a:latin typeface="Calibri"/>
              </a:rPr>
              <a:t>Classical Anomaly Score (CAS): </a:t>
            </a:r>
            <a:r>
              <a:rPr sz="1100">
                <a:solidFill>
                  <a:srgbClr val="475569"/>
                </a:solidFill>
                <a:latin typeface="Calibri"/>
              </a:rPr>
              <a:t>Min-max normalized score from classical Isolation Forest fitted on standardized features.</a:t>
            </a:r>
          </a:p>
          <a:p>
            <a:pPr>
              <a:spcAft>
                <a:spcPts val="1000"/>
              </a:spcAft>
            </a:pPr>
            <a:r>
              <a:rPr b="1" sz="1100">
                <a:solidFill>
                  <a:srgbClr val="1E293B"/>
                </a:solidFill>
                <a:latin typeface="Calibri"/>
              </a:rPr>
              <a:t>Neighborhood Jaccard Overlap (J_k): </a:t>
            </a:r>
            <a:r>
              <a:rPr sz="1100">
                <a:solidFill>
                  <a:srgbClr val="475569"/>
                </a:solidFill>
                <a:latin typeface="Calibri"/>
              </a:rPr>
              <a:t>J_k(x_i) = |N_classical(x_i) ∩ N_quantum(x_i)| / |N_classical(x_i) ∪ N_quantum(x_i)| at k=5.</a:t>
            </a:r>
          </a:p>
          <a:p>
            <a:pPr>
              <a:spcAft>
                <a:spcPts val="1000"/>
              </a:spcAft>
            </a:pPr>
            <a:r>
              <a:rPr b="1" sz="1100">
                <a:solidFill>
                  <a:srgbClr val="1E293B"/>
                </a:solidFill>
                <a:latin typeface="Calibri"/>
              </a:rPr>
              <a:t>Physical Interpretation: </a:t>
            </a:r>
            <a:r>
              <a:rPr sz="1100">
                <a:solidFill>
                  <a:srgbClr val="475569"/>
                </a:solidFill>
                <a:latin typeface="Calibri"/>
              </a:rPr>
              <a:t>Quantifies geometric tension: high RD points appear typical in Euclidean space but alien in Hilbert space.</a:t>
            </a:r>
          </a:p>
        </p:txBody>
      </p:sp>
      <p:sp>
        <p:nvSpPr>
          <p:cNvPr id="11" name="Rounded Rectangle 10"/>
          <p:cNvSpPr/>
          <p:nvPr/>
        </p:nvSpPr>
        <p:spPr>
          <a:xfrm>
            <a:off x="731520" y="5394960"/>
            <a:ext cx="10698480" cy="100584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486400"/>
            <a:ext cx="10149840" cy="822960"/>
          </a:xfrm>
          <a:prstGeom prst="rect">
            <a:avLst/>
          </a:prstGeom>
          <a:noFill/>
        </p:spPr>
        <p:txBody>
          <a:bodyPr wrap="none">
            <a:spAutoFit/>
          </a:bodyPr>
          <a:lstStyle/>
          <a:p>
            <a:pPr>
              <a:defRPr sz="1400" b="1">
                <a:solidFill>
                  <a:srgbClr val="0284C7"/>
                </a:solidFill>
                <a:latin typeface="Calibri"/>
              </a:defRPr>
            </a:pPr>
            <a:r>
              <a:t>Composite Metric:  QI_v2(x) = λ · QU(x) + (1 - λ) · RD(x)     [Default λ = 0.5]</a:t>
            </a:r>
          </a:p>
          <a:p>
            <a:pPr>
              <a:defRPr sz="1000">
                <a:solidFill>
                  <a:srgbClr val="475569"/>
                </a:solidFill>
                <a:latin typeface="Calibri"/>
              </a:defRPr>
            </a:pPr>
            <a:r>
              <a:t>Mathematical Integrity Note: Diagonal self-similarity K_ii = 1.0 was explicitly eliminated from B(x) using np.nanvar, preventing artificial score inflation for globally isolated observations (Spearman rho with prior ranking = 0.9986).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EMPIRICAL RESULTS</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Global &amp; Local Structural Divergence</a:t>
            </a:r>
          </a:p>
          <a:p>
            <a:pPr>
              <a:defRPr sz="1200">
                <a:solidFill>
                  <a:srgbClr val="475569"/>
                </a:solidFill>
                <a:latin typeface="Calibri"/>
              </a:defRPr>
            </a:pPr>
            <a:r>
              <a:t>Benchmarking Classical RBF vs Quantum ZZFeatureMap on UCI Red Wine Quality (N=150).</a:t>
            </a:r>
          </a:p>
        </p:txBody>
      </p:sp>
      <p:sp>
        <p:nvSpPr>
          <p:cNvPr id="5" name="Rounded Rectangle 4"/>
          <p:cNvSpPr/>
          <p:nvPr/>
        </p:nvSpPr>
        <p:spPr>
          <a:xfrm>
            <a:off x="731520" y="1371600"/>
            <a:ext cx="3383280" cy="11887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3108960" cy="1005840"/>
          </a:xfrm>
          <a:prstGeom prst="rect">
            <a:avLst/>
          </a:prstGeom>
          <a:noFill/>
        </p:spPr>
        <p:txBody>
          <a:bodyPr wrap="square" lIns="0" rIns="0" tIns="0" bIns="0">
            <a:spAutoFit/>
          </a:bodyPr>
          <a:lstStyle/>
          <a:p>
            <a:pPr>
              <a:defRPr sz="2400" b="1">
                <a:solidFill>
                  <a:srgbClr val="0284C7"/>
                </a:solidFill>
                <a:latin typeface="Calibri"/>
              </a:defRPr>
            </a:pPr>
            <a:r>
              <a:t>0.2484</a:t>
            </a:r>
          </a:p>
          <a:p>
            <a:pPr>
              <a:defRPr sz="1100" b="1">
                <a:solidFill>
                  <a:srgbClr val="1E293B"/>
                </a:solidFill>
                <a:latin typeface="Calibri"/>
              </a:defRPr>
            </a:pPr>
            <a:r>
              <a:t>Classical-Quantum CKA</a:t>
            </a:r>
          </a:p>
          <a:p>
            <a:pPr>
              <a:defRPr sz="950">
                <a:solidFill>
                  <a:srgbClr val="475569"/>
                </a:solidFill>
                <a:latin typeface="Calibri"/>
              </a:defRPr>
            </a:pPr>
            <a:r>
              <a:t>95% Bootstrap CI: [0.3132, 0.3851]</a:t>
            </a:r>
            <a:br/>
            <a:r>
              <a:t>Divergence D = 0.7516</a:t>
            </a:r>
          </a:p>
        </p:txBody>
      </p:sp>
      <p:sp>
        <p:nvSpPr>
          <p:cNvPr id="7" name="Rounded Rectangle 6"/>
          <p:cNvSpPr/>
          <p:nvPr/>
        </p:nvSpPr>
        <p:spPr>
          <a:xfrm>
            <a:off x="4389120" y="1371600"/>
            <a:ext cx="3383280" cy="11887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63040"/>
            <a:ext cx="3108960" cy="1005840"/>
          </a:xfrm>
          <a:prstGeom prst="rect">
            <a:avLst/>
          </a:prstGeom>
          <a:noFill/>
        </p:spPr>
        <p:txBody>
          <a:bodyPr wrap="square" lIns="0" rIns="0" tIns="0" bIns="0">
            <a:spAutoFit/>
          </a:bodyPr>
          <a:lstStyle/>
          <a:p>
            <a:pPr>
              <a:defRPr sz="2400" b="1">
                <a:solidFill>
                  <a:srgbClr val="10B981"/>
                </a:solidFill>
                <a:latin typeface="Calibri"/>
              </a:defRPr>
            </a:pPr>
            <a:r>
              <a:t>0.1004</a:t>
            </a:r>
          </a:p>
          <a:p>
            <a:pPr>
              <a:defRPr sz="1100" b="1">
                <a:solidFill>
                  <a:srgbClr val="1E293B"/>
                </a:solidFill>
                <a:latin typeface="Calibri"/>
              </a:defRPr>
            </a:pPr>
            <a:r>
              <a:t>Neighborhood Jaccard @ 10</a:t>
            </a:r>
          </a:p>
          <a:p>
            <a:pPr>
              <a:defRPr sz="950">
                <a:solidFill>
                  <a:srgbClr val="475569"/>
                </a:solidFill>
                <a:latin typeface="Calibri"/>
              </a:defRPr>
            </a:pPr>
            <a:r>
              <a:t>95% Bootstrap CI: [0.0883, 0.1138]</a:t>
            </a:r>
            <a:br/>
            <a:r>
              <a:t>~90% nearest neighbors change</a:t>
            </a:r>
          </a:p>
        </p:txBody>
      </p:sp>
      <p:sp>
        <p:nvSpPr>
          <p:cNvPr id="9" name="Rounded Rectangle 8"/>
          <p:cNvSpPr/>
          <p:nvPr/>
        </p:nvSpPr>
        <p:spPr>
          <a:xfrm>
            <a:off x="8046720" y="1371600"/>
            <a:ext cx="3383280" cy="11887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463040"/>
            <a:ext cx="3108960" cy="1005840"/>
          </a:xfrm>
          <a:prstGeom prst="rect">
            <a:avLst/>
          </a:prstGeom>
          <a:noFill/>
        </p:spPr>
        <p:txBody>
          <a:bodyPr wrap="square" lIns="0" rIns="0" tIns="0" bIns="0">
            <a:spAutoFit/>
          </a:bodyPr>
          <a:lstStyle/>
          <a:p>
            <a:pPr>
              <a:defRPr sz="2400" b="1">
                <a:solidFill>
                  <a:srgbClr val="D97706"/>
                </a:solidFill>
                <a:latin typeface="Calibri"/>
              </a:defRPr>
            </a:pPr>
            <a:r>
              <a:t>13 / 150</a:t>
            </a:r>
          </a:p>
          <a:p>
            <a:pPr>
              <a:defRPr sz="1100" b="1">
                <a:solidFill>
                  <a:srgbClr val="1E293B"/>
                </a:solidFill>
                <a:latin typeface="Calibri"/>
              </a:defRPr>
            </a:pPr>
            <a:r>
              <a:t>Quantum-Specific Candidates</a:t>
            </a:r>
          </a:p>
          <a:p>
            <a:pPr>
              <a:defRPr sz="950">
                <a:solidFill>
                  <a:srgbClr val="475569"/>
                </a:solidFill>
                <a:latin typeface="Calibri"/>
              </a:defRPr>
            </a:pPr>
            <a:r>
              <a:t>Top-10 Overlap = 0.20</a:t>
            </a:r>
            <a:br/>
            <a:r>
              <a:t>Points missed by classical EDA</a:t>
            </a:r>
          </a:p>
        </p:txBody>
      </p:sp>
      <p:pic>
        <p:nvPicPr>
          <p:cNvPr id="11" name="Picture 10" descr="F2_kernel_comparison.png"/>
          <p:cNvPicPr>
            <a:picLocks noChangeAspect="1"/>
          </p:cNvPicPr>
          <p:nvPr/>
        </p:nvPicPr>
        <p:blipFill>
          <a:blip r:embed="rId2"/>
          <a:stretch>
            <a:fillRect/>
          </a:stretch>
        </p:blipFill>
        <p:spPr>
          <a:xfrm>
            <a:off x="731520" y="2743200"/>
            <a:ext cx="5669280" cy="1576886"/>
          </a:xfrm>
          <a:prstGeom prst="rect">
            <a:avLst/>
          </a:prstGeom>
        </p:spPr>
      </p:pic>
      <p:sp>
        <p:nvSpPr>
          <p:cNvPr id="12" name="Rounded Rectangle 11"/>
          <p:cNvSpPr/>
          <p:nvPr/>
        </p:nvSpPr>
        <p:spPr>
          <a:xfrm>
            <a:off x="6675120" y="2743200"/>
            <a:ext cx="47548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2880360"/>
            <a:ext cx="4389120" cy="320040"/>
          </a:xfrm>
          <a:prstGeom prst="rect">
            <a:avLst/>
          </a:prstGeom>
          <a:noFill/>
        </p:spPr>
        <p:txBody>
          <a:bodyPr wrap="square" lIns="0" rIns="0" tIns="0" bIns="0">
            <a:spAutoFit/>
          </a:bodyPr>
          <a:lstStyle/>
          <a:p>
            <a:pPr>
              <a:defRPr sz="1300" b="1">
                <a:solidFill>
                  <a:srgbClr val="1E293B"/>
                </a:solidFill>
                <a:latin typeface="Calibri"/>
              </a:defRPr>
            </a:pPr>
            <a:r>
              <a:t>Scientific Interpretation</a:t>
            </a:r>
          </a:p>
        </p:txBody>
      </p:sp>
      <p:sp>
        <p:nvSpPr>
          <p:cNvPr id="14" name="TextBox 13"/>
          <p:cNvSpPr txBox="1"/>
          <p:nvPr/>
        </p:nvSpPr>
        <p:spPr>
          <a:xfrm>
            <a:off x="6858000" y="3200400"/>
            <a:ext cx="4389120" cy="2834640"/>
          </a:xfrm>
          <a:prstGeom prst="rect">
            <a:avLst/>
          </a:prstGeom>
          <a:noFill/>
        </p:spPr>
        <p:txBody>
          <a:bodyPr wrap="square">
            <a:spAutoFit/>
          </a:bodyPr>
          <a:lstStyle/>
          <a:p>
            <a:pPr>
              <a:spcAft>
                <a:spcPts val="1200"/>
              </a:spcAft>
            </a:pPr>
            <a:r>
              <a:rPr b="1" sz="1100">
                <a:solidFill>
                  <a:srgbClr val="1E293B"/>
                </a:solidFill>
                <a:latin typeface="Calibri"/>
              </a:rPr>
              <a:t>Substantial Alignment Gap: </a:t>
            </a:r>
            <a:r>
              <a:rPr sz="1100">
                <a:solidFill>
                  <a:srgbClr val="475569"/>
                </a:solidFill>
                <a:latin typeface="Calibri"/>
              </a:rPr>
              <a:t>Centered Kernel Alignment (CKA) of 0.2484 indicates that the quantum Hilbert representation shares less than 25% of its global similarity structure with the Gaussian RBF kernel.</a:t>
            </a:r>
          </a:p>
          <a:p>
            <a:pPr>
              <a:spcAft>
                <a:spcPts val="1200"/>
              </a:spcAft>
            </a:pPr>
            <a:r>
              <a:rPr b="1" sz="1100">
                <a:solidFill>
                  <a:srgbClr val="1E293B"/>
                </a:solidFill>
                <a:latin typeface="Calibri"/>
              </a:rPr>
              <a:t>Local Graph Rewiring: </a:t>
            </a:r>
            <a:r>
              <a:rPr sz="1100">
                <a:solidFill>
                  <a:srgbClr val="475569"/>
                </a:solidFill>
                <a:latin typeface="Calibri"/>
              </a:rPr>
              <a:t>Mean Jaccard overlap at k=10 is 0.1004. Approximately 90% of an observation's nearest neighbors in classical Euclidean space are replaced by different data points in quantum state space.</a:t>
            </a:r>
          </a:p>
          <a:p>
            <a:pPr>
              <a:spcAft>
                <a:spcPts val="1200"/>
              </a:spcAft>
            </a:pPr>
            <a:r>
              <a:rPr b="1" sz="1100">
                <a:solidFill>
                  <a:srgbClr val="1E293B"/>
                </a:solidFill>
                <a:latin typeface="Calibri"/>
              </a:rPr>
              <a:t>Anomaly Ranking Decoupling: </a:t>
            </a:r>
            <a:r>
              <a:rPr sz="1100">
                <a:solidFill>
                  <a:srgbClr val="475569"/>
                </a:solidFill>
                <a:latin typeface="Calibri"/>
              </a:rPr>
              <a:t>Overlap between top-10 classical Isolation Forest anomalies and top-10 quantum anomalies is only 20% (Jaccard = 0.11), proving that Hilbert isolation targets orthogonal structural phenomena.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CLASSICAL CONTROLS BENCHMARK</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Is Quantum Hilbert Divergence Genuinely Distinct?</a:t>
            </a:r>
          </a:p>
          <a:p>
            <a:pPr>
              <a:defRPr sz="1200">
                <a:solidFill>
                  <a:srgbClr val="475569"/>
                </a:solidFill>
                <a:latin typeface="Calibri"/>
              </a:defRPr>
            </a:pPr>
            <a:r>
              <a:t>Comparing kernel divergence D(K, RBF) = 1 - CKA against Polynomial, Linear, and RFF baselines.</a:t>
            </a:r>
          </a:p>
        </p:txBody>
      </p:sp>
      <p:pic>
        <p:nvPicPr>
          <p:cNvPr id="5" name="Picture 4" descr="F6_kernel_control_cka.png"/>
          <p:cNvPicPr>
            <a:picLocks noChangeAspect="1"/>
          </p:cNvPicPr>
          <p:nvPr/>
        </p:nvPicPr>
        <p:blipFill>
          <a:blip r:embed="rId2"/>
          <a:stretch>
            <a:fillRect/>
          </a:stretch>
        </p:blipFill>
        <p:spPr>
          <a:xfrm>
            <a:off x="731520" y="1463040"/>
            <a:ext cx="5303520" cy="4148769"/>
          </a:xfrm>
          <a:prstGeom prst="rect">
            <a:avLst/>
          </a:prstGeom>
        </p:spPr>
      </p:pic>
      <p:sp>
        <p:nvSpPr>
          <p:cNvPr id="6" name="Rounded Rectangle 5"/>
          <p:cNvSpPr/>
          <p:nvPr/>
        </p:nvSpPr>
        <p:spPr>
          <a:xfrm>
            <a:off x="630936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00200"/>
            <a:ext cx="4754880" cy="320040"/>
          </a:xfrm>
          <a:prstGeom prst="rect">
            <a:avLst/>
          </a:prstGeom>
          <a:noFill/>
        </p:spPr>
        <p:txBody>
          <a:bodyPr wrap="square" lIns="0" rIns="0" tIns="0" bIns="0">
            <a:spAutoFit/>
          </a:bodyPr>
          <a:lstStyle/>
          <a:p>
            <a:pPr>
              <a:defRPr sz="1300" b="1">
                <a:solidFill>
                  <a:srgbClr val="1E293B"/>
                </a:solidFill>
                <a:latin typeface="Calibri"/>
              </a:defRPr>
            </a:pPr>
            <a:r>
              <a:t>Divergence Benchmark vs. Classical RBF</a:t>
            </a:r>
          </a:p>
        </p:txBody>
      </p:sp>
      <p:sp>
        <p:nvSpPr>
          <p:cNvPr id="8" name="TextBox 7"/>
          <p:cNvSpPr txBox="1"/>
          <p:nvPr/>
        </p:nvSpPr>
        <p:spPr>
          <a:xfrm>
            <a:off x="6492240" y="1920240"/>
            <a:ext cx="4754880" cy="4114800"/>
          </a:xfrm>
          <a:prstGeom prst="rect">
            <a:avLst/>
          </a:prstGeom>
          <a:noFill/>
        </p:spPr>
        <p:txBody>
          <a:bodyPr wrap="square">
            <a:spAutoFit/>
          </a:bodyPr>
          <a:lstStyle/>
          <a:p/>
        </p:txBody>
      </p:sp>
      <p:graphicFrame>
        <p:nvGraphicFramePr>
          <p:cNvPr id="9" name="Table 8"/>
          <p:cNvGraphicFramePr>
            <a:graphicFrameLocks noGrp="1"/>
          </p:cNvGraphicFramePr>
          <p:nvPr/>
        </p:nvGraphicFramePr>
        <p:xfrm>
          <a:off x="6492240" y="1920240"/>
          <a:ext cx="4754880" cy="1828800"/>
        </p:xfrm>
        <a:graphic>
          <a:graphicData uri="http://schemas.openxmlformats.org/drawingml/2006/table">
            <a:tbl>
              <a:tblPr firstRow="1" bandRow="1">
                <a:tableStyleId>{5C22544A-7EE6-4342-B048-85BDC9FD1C3A}</a:tableStyleId>
              </a:tblPr>
              <a:tblGrid>
                <a:gridCol w="2194560"/>
                <a:gridCol w="1188720"/>
                <a:gridCol w="1371600"/>
              </a:tblGrid>
              <a:tr h="365760">
                <a:tc>
                  <a:txBody>
                    <a:bodyPr/>
                    <a:lstStyle/>
                    <a:p>
                      <a:pPr algn="ctr">
                        <a:defRPr sz="950" b="1">
                          <a:solidFill>
                            <a:srgbClr val="FFFFFF"/>
                          </a:solidFill>
                          <a:latin typeface="Calibri"/>
                        </a:defRPr>
                      </a:pPr>
                      <a:r>
                        <a:t>Kernel Formulation</a:t>
                      </a:r>
                    </a:p>
                  </a:txBody>
                  <a:tcPr>
                    <a:solidFill>
                      <a:srgbClr val="1E293B"/>
                    </a:solidFill>
                  </a:tcPr>
                </a:tc>
                <a:tc>
                  <a:txBody>
                    <a:bodyPr/>
                    <a:lstStyle/>
                    <a:p>
                      <a:pPr algn="ctr">
                        <a:defRPr sz="950" b="1">
                          <a:solidFill>
                            <a:srgbClr val="FFFFFF"/>
                          </a:solidFill>
                          <a:latin typeface="Calibri"/>
                        </a:defRPr>
                      </a:pPr>
                      <a:r>
                        <a:t>CKA vs RBF</a:t>
                      </a:r>
                    </a:p>
                  </a:txBody>
                  <a:tcPr>
                    <a:solidFill>
                      <a:srgbClr val="1E293B"/>
                    </a:solidFill>
                  </a:tcPr>
                </a:tc>
                <a:tc>
                  <a:txBody>
                    <a:bodyPr/>
                    <a:lstStyle/>
                    <a:p>
                      <a:pPr algn="ctr">
                        <a:defRPr sz="950" b="1">
                          <a:solidFill>
                            <a:srgbClr val="FFFFFF"/>
                          </a:solidFill>
                          <a:latin typeface="Calibri"/>
                        </a:defRPr>
                      </a:pPr>
                      <a:r>
                        <a:t>Divergence (D)</a:t>
                      </a:r>
                    </a:p>
                  </a:txBody>
                  <a:tcPr>
                    <a:solidFill>
                      <a:srgbClr val="1E293B"/>
                    </a:solidFill>
                  </a:tcPr>
                </a:tc>
              </a:tr>
              <a:tr h="365760">
                <a:tc>
                  <a:txBody>
                    <a:bodyPr/>
                    <a:lstStyle/>
                    <a:p>
                      <a:pPr>
                        <a:defRPr sz="950" b="1">
                          <a:solidFill>
                            <a:srgbClr val="1E293B"/>
                          </a:solidFill>
                          <a:latin typeface="Calibri"/>
                        </a:defRPr>
                      </a:pPr>
                      <a:r>
                        <a:t>Quantum (ZZ, reps=2)</a:t>
                      </a:r>
                    </a:p>
                  </a:txBody>
                  <a:tcPr>
                    <a:solidFill>
                      <a:srgbClr val="FFFFFF"/>
                    </a:solidFill>
                  </a:tcPr>
                </a:tc>
                <a:tc>
                  <a:txBody>
                    <a:bodyPr/>
                    <a:lstStyle/>
                    <a:p>
                      <a:pPr algn="ctr">
                        <a:defRPr sz="950">
                          <a:solidFill>
                            <a:srgbClr val="1E293B"/>
                          </a:solidFill>
                          <a:latin typeface="Calibri"/>
                        </a:defRPr>
                      </a:pPr>
                      <a:r>
                        <a:t>0.2484</a:t>
                      </a:r>
                    </a:p>
                  </a:txBody>
                  <a:tcPr>
                    <a:solidFill>
                      <a:srgbClr val="FFFFFF"/>
                    </a:solidFill>
                  </a:tcPr>
                </a:tc>
                <a:tc>
                  <a:txBody>
                    <a:bodyPr/>
                    <a:lstStyle/>
                    <a:p>
                      <a:pPr algn="ctr">
                        <a:defRPr sz="950">
                          <a:solidFill>
                            <a:srgbClr val="1E293B"/>
                          </a:solidFill>
                          <a:latin typeface="Calibri"/>
                        </a:defRPr>
                      </a:pPr>
                      <a:r>
                        <a:t>0.7516</a:t>
                      </a:r>
                    </a:p>
                  </a:txBody>
                  <a:tcPr>
                    <a:solidFill>
                      <a:srgbClr val="FFFFFF"/>
                    </a:solidFill>
                  </a:tcPr>
                </a:tc>
              </a:tr>
              <a:tr h="365760">
                <a:tc>
                  <a:txBody>
                    <a:bodyPr/>
                    <a:lstStyle/>
                    <a:p>
                      <a:pPr>
                        <a:defRPr sz="950" b="1">
                          <a:solidFill>
                            <a:srgbClr val="1E293B"/>
                          </a:solidFill>
                          <a:latin typeface="Calibri"/>
                        </a:defRPr>
                      </a:pPr>
                      <a:r>
                        <a:t>Classical Poly (deg=3)</a:t>
                      </a:r>
                    </a:p>
                  </a:txBody>
                  <a:tcPr>
                    <a:solidFill>
                      <a:srgbClr val="F1F5F9"/>
                    </a:solidFill>
                  </a:tcPr>
                </a:tc>
                <a:tc>
                  <a:txBody>
                    <a:bodyPr/>
                    <a:lstStyle/>
                    <a:p>
                      <a:pPr algn="ctr">
                        <a:defRPr sz="950">
                          <a:solidFill>
                            <a:srgbClr val="1E293B"/>
                          </a:solidFill>
                          <a:latin typeface="Calibri"/>
                        </a:defRPr>
                      </a:pPr>
                      <a:r>
                        <a:t>0.6702</a:t>
                      </a:r>
                    </a:p>
                  </a:txBody>
                  <a:tcPr>
                    <a:solidFill>
                      <a:srgbClr val="F1F5F9"/>
                    </a:solidFill>
                  </a:tcPr>
                </a:tc>
                <a:tc>
                  <a:txBody>
                    <a:bodyPr/>
                    <a:lstStyle/>
                    <a:p>
                      <a:pPr algn="ctr">
                        <a:defRPr sz="950">
                          <a:solidFill>
                            <a:srgbClr val="1E293B"/>
                          </a:solidFill>
                          <a:latin typeface="Calibri"/>
                        </a:defRPr>
                      </a:pPr>
                      <a:r>
                        <a:t>0.3298</a:t>
                      </a:r>
                    </a:p>
                  </a:txBody>
                  <a:tcPr>
                    <a:solidFill>
                      <a:srgbClr val="F1F5F9"/>
                    </a:solidFill>
                  </a:tcPr>
                </a:tc>
              </a:tr>
              <a:tr h="365760">
                <a:tc>
                  <a:txBody>
                    <a:bodyPr/>
                    <a:lstStyle/>
                    <a:p>
                      <a:pPr>
                        <a:defRPr sz="950" b="1">
                          <a:solidFill>
                            <a:srgbClr val="1E293B"/>
                          </a:solidFill>
                          <a:latin typeface="Calibri"/>
                        </a:defRPr>
                      </a:pPr>
                      <a:r>
                        <a:t>Classical Linear</a:t>
                      </a:r>
                    </a:p>
                  </a:txBody>
                  <a:tcPr>
                    <a:solidFill>
                      <a:srgbClr val="FFFFFF"/>
                    </a:solidFill>
                  </a:tcPr>
                </a:tc>
                <a:tc>
                  <a:txBody>
                    <a:bodyPr/>
                    <a:lstStyle/>
                    <a:p>
                      <a:pPr algn="ctr">
                        <a:defRPr sz="950">
                          <a:solidFill>
                            <a:srgbClr val="1E293B"/>
                          </a:solidFill>
                          <a:latin typeface="Calibri"/>
                        </a:defRPr>
                      </a:pPr>
                      <a:r>
                        <a:t>0.7555</a:t>
                      </a:r>
                    </a:p>
                  </a:txBody>
                  <a:tcPr>
                    <a:solidFill>
                      <a:srgbClr val="FFFFFF"/>
                    </a:solidFill>
                  </a:tcPr>
                </a:tc>
                <a:tc>
                  <a:txBody>
                    <a:bodyPr/>
                    <a:lstStyle/>
                    <a:p>
                      <a:pPr algn="ctr">
                        <a:defRPr sz="950">
                          <a:solidFill>
                            <a:srgbClr val="1E293B"/>
                          </a:solidFill>
                          <a:latin typeface="Calibri"/>
                        </a:defRPr>
                      </a:pPr>
                      <a:r>
                        <a:t>0.2445</a:t>
                      </a:r>
                    </a:p>
                  </a:txBody>
                  <a:tcPr>
                    <a:solidFill>
                      <a:srgbClr val="FFFFFF"/>
                    </a:solidFill>
                  </a:tcPr>
                </a:tc>
              </a:tr>
              <a:tr h="365760">
                <a:tc>
                  <a:txBody>
                    <a:bodyPr/>
                    <a:lstStyle/>
                    <a:p>
                      <a:pPr>
                        <a:defRPr sz="950" b="1">
                          <a:solidFill>
                            <a:srgbClr val="1E293B"/>
                          </a:solidFill>
                          <a:latin typeface="Calibri"/>
                        </a:defRPr>
                      </a:pPr>
                      <a:r>
                        <a:t>Random Fourier (RFF)</a:t>
                      </a:r>
                    </a:p>
                  </a:txBody>
                  <a:tcPr>
                    <a:solidFill>
                      <a:srgbClr val="F1F5F9"/>
                    </a:solidFill>
                  </a:tcPr>
                </a:tc>
                <a:tc>
                  <a:txBody>
                    <a:bodyPr/>
                    <a:lstStyle/>
                    <a:p>
                      <a:pPr algn="ctr">
                        <a:defRPr sz="950">
                          <a:solidFill>
                            <a:srgbClr val="1E293B"/>
                          </a:solidFill>
                          <a:latin typeface="Calibri"/>
                        </a:defRPr>
                      </a:pPr>
                      <a:r>
                        <a:t>0.9841</a:t>
                      </a:r>
                    </a:p>
                  </a:txBody>
                  <a:tcPr>
                    <a:solidFill>
                      <a:srgbClr val="F1F5F9"/>
                    </a:solidFill>
                  </a:tcPr>
                </a:tc>
                <a:tc>
                  <a:txBody>
                    <a:bodyPr/>
                    <a:lstStyle/>
                    <a:p>
                      <a:pPr algn="ctr">
                        <a:defRPr sz="950">
                          <a:solidFill>
                            <a:srgbClr val="1E293B"/>
                          </a:solidFill>
                          <a:latin typeface="Calibri"/>
                        </a:defRPr>
                      </a:pPr>
                      <a:r>
                        <a:t>0.0159</a:t>
                      </a:r>
                    </a:p>
                  </a:txBody>
                  <a:tcPr>
                    <a:solidFill>
                      <a:srgbClr val="F1F5F9"/>
                    </a:solidFill>
                  </a:tcPr>
                </a:tc>
              </a:tr>
            </a:tbl>
          </a:graphicData>
        </a:graphic>
      </p:graphicFrame>
      <p:sp>
        <p:nvSpPr>
          <p:cNvPr id="10" name="TextBox 9"/>
          <p:cNvSpPr txBox="1"/>
          <p:nvPr/>
        </p:nvSpPr>
        <p:spPr>
          <a:xfrm>
            <a:off x="6492240" y="3931920"/>
            <a:ext cx="4754880" cy="2103120"/>
          </a:xfrm>
          <a:prstGeom prst="rect">
            <a:avLst/>
          </a:prstGeom>
          <a:noFill/>
        </p:spPr>
        <p:txBody>
          <a:bodyPr wrap="square">
            <a:spAutoFit/>
          </a:bodyPr>
          <a:lstStyle/>
          <a:p>
            <a:pPr>
              <a:spcAft>
                <a:spcPts val="800"/>
              </a:spcAft>
            </a:pPr>
            <a:r>
              <a:rPr b="1" sz="1000">
                <a:solidFill>
                  <a:srgbClr val="1E293B"/>
                </a:solidFill>
                <a:latin typeface="Calibri"/>
              </a:rPr>
              <a:t>Over 2x Polynomial Divergence: </a:t>
            </a:r>
            <a:r>
              <a:rPr sz="1000">
                <a:solidFill>
                  <a:srgbClr val="475569"/>
                </a:solidFill>
                <a:latin typeface="Calibri"/>
              </a:rPr>
              <a:t>The quantum feature map induces D = 0.7516, which is more than double the divergence of a 3rd-degree polynomial kernel (D = 0.3298).</a:t>
            </a:r>
          </a:p>
          <a:p>
            <a:pPr>
              <a:spcAft>
                <a:spcPts val="800"/>
              </a:spcAft>
            </a:pPr>
            <a:r>
              <a:rPr b="1" sz="1000">
                <a:solidFill>
                  <a:srgbClr val="1E293B"/>
                </a:solidFill>
                <a:latin typeface="Calibri"/>
              </a:rPr>
              <a:t>RFF Convergence: </a:t>
            </a:r>
            <a:r>
              <a:rPr sz="1000">
                <a:solidFill>
                  <a:srgbClr val="475569"/>
                </a:solidFill>
                <a:latin typeface="Calibri"/>
              </a:rPr>
              <a:t>Random Fourier Features (D=500) rapidly converge to the true RBF kernel (CKA = 0.9841, D = 0.0159), confirming that classical random projections do not generate novel geometric structure.</a:t>
            </a:r>
          </a:p>
          <a:p>
            <a:pPr>
              <a:spcAft>
                <a:spcPts val="800"/>
              </a:spcAft>
            </a:pPr>
            <a:r>
              <a:rPr b="1" sz="1000">
                <a:solidFill>
                  <a:srgbClr val="1E293B"/>
                </a:solidFill>
                <a:latin typeface="Calibri"/>
              </a:rPr>
              <a:t>Key Conclusion: </a:t>
            </a:r>
            <a:r>
              <a:rPr sz="1000">
                <a:solidFill>
                  <a:srgbClr val="475569"/>
                </a:solidFill>
                <a:latin typeface="Calibri"/>
              </a:rPr>
              <a:t>The quantum Hilbert space generates a similarity landscape genuinely distinct from standard classical non-linear feature maps, disproving the trivial non-linear expansion critique.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STATISTICAL VALIDATION</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Full Quantum Permutation Null Test (B=100)</a:t>
            </a:r>
          </a:p>
          <a:p>
            <a:pPr>
              <a:defRPr sz="1200">
                <a:solidFill>
                  <a:srgbClr val="475569"/>
                </a:solidFill>
                <a:latin typeface="Calibri"/>
              </a:defRPr>
            </a:pPr>
            <a:r>
              <a:t>Non-parametric hypothesis testing against 100 independently computed quantum kernels.</a:t>
            </a:r>
          </a:p>
        </p:txBody>
      </p:sp>
      <p:sp>
        <p:nvSpPr>
          <p:cNvPr id="5" name="Rounded Rectangle 4"/>
          <p:cNvSpPr/>
          <p:nvPr/>
        </p:nvSpPr>
        <p:spPr>
          <a:xfrm>
            <a:off x="731520" y="1371600"/>
            <a:ext cx="3383280" cy="11887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3108960" cy="1005840"/>
          </a:xfrm>
          <a:prstGeom prst="rect">
            <a:avLst/>
          </a:prstGeom>
          <a:noFill/>
        </p:spPr>
        <p:txBody>
          <a:bodyPr wrap="square" lIns="0" rIns="0" tIns="0" bIns="0">
            <a:spAutoFit/>
          </a:bodyPr>
          <a:lstStyle/>
          <a:p>
            <a:pPr>
              <a:defRPr sz="2400" b="1">
                <a:solidFill>
                  <a:srgbClr val="1E293B"/>
                </a:solidFill>
                <a:latin typeface="Calibri"/>
              </a:defRPr>
            </a:pPr>
            <a:r>
              <a:t>0.1821 ± 0.0074</a:t>
            </a:r>
          </a:p>
          <a:p>
            <a:pPr>
              <a:defRPr sz="1100" b="1">
                <a:solidFill>
                  <a:srgbClr val="1E293B"/>
                </a:solidFill>
                <a:latin typeface="Calibri"/>
              </a:defRPr>
            </a:pPr>
            <a:r>
              <a:t>Permuted Null Mean (CKA)</a:t>
            </a:r>
          </a:p>
          <a:p>
            <a:pPr>
              <a:defRPr sz="950">
                <a:solidFill>
                  <a:srgbClr val="475569"/>
                </a:solidFill>
                <a:latin typeface="Calibri"/>
              </a:defRPr>
            </a:pPr>
            <a:r>
              <a:t>Range: [0.1628, 0.2001]</a:t>
            </a:r>
            <a:br/>
            <a:r>
              <a:t>100 independent quantum trials</a:t>
            </a:r>
          </a:p>
        </p:txBody>
      </p:sp>
      <p:sp>
        <p:nvSpPr>
          <p:cNvPr id="7" name="Rounded Rectangle 6"/>
          <p:cNvSpPr/>
          <p:nvPr/>
        </p:nvSpPr>
        <p:spPr>
          <a:xfrm>
            <a:off x="4389120" y="1371600"/>
            <a:ext cx="3383280" cy="11887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463040"/>
            <a:ext cx="3108960" cy="1005840"/>
          </a:xfrm>
          <a:prstGeom prst="rect">
            <a:avLst/>
          </a:prstGeom>
          <a:noFill/>
        </p:spPr>
        <p:txBody>
          <a:bodyPr wrap="square" lIns="0" rIns="0" tIns="0" bIns="0">
            <a:spAutoFit/>
          </a:bodyPr>
          <a:lstStyle/>
          <a:p>
            <a:pPr>
              <a:defRPr sz="2400" b="1">
                <a:solidFill>
                  <a:srgbClr val="0284C7"/>
                </a:solidFill>
                <a:latin typeface="Calibri"/>
              </a:defRPr>
            </a:pPr>
            <a:r>
              <a:t>+8.91</a:t>
            </a:r>
          </a:p>
          <a:p>
            <a:pPr>
              <a:defRPr sz="1100" b="1">
                <a:solidFill>
                  <a:srgbClr val="1E293B"/>
                </a:solidFill>
                <a:latin typeface="Calibri"/>
              </a:defRPr>
            </a:pPr>
            <a:r>
              <a:t>Standardized z-Score</a:t>
            </a:r>
          </a:p>
          <a:p>
            <a:pPr>
              <a:defRPr sz="950">
                <a:solidFill>
                  <a:srgbClr val="475569"/>
                </a:solidFill>
                <a:latin typeface="Calibri"/>
              </a:defRPr>
            </a:pPr>
            <a:r>
              <a:t>Observed (0.2484) is 8.91 SDs</a:t>
            </a:r>
            <a:br/>
            <a:r>
              <a:t>above permuted null mean</a:t>
            </a:r>
          </a:p>
        </p:txBody>
      </p:sp>
      <p:sp>
        <p:nvSpPr>
          <p:cNvPr id="9" name="Rounded Rectangle 8"/>
          <p:cNvSpPr/>
          <p:nvPr/>
        </p:nvSpPr>
        <p:spPr>
          <a:xfrm>
            <a:off x="8046720" y="1371600"/>
            <a:ext cx="3383280" cy="118872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463040"/>
            <a:ext cx="3108960" cy="1005840"/>
          </a:xfrm>
          <a:prstGeom prst="rect">
            <a:avLst/>
          </a:prstGeom>
          <a:noFill/>
        </p:spPr>
        <p:txBody>
          <a:bodyPr wrap="square" lIns="0" rIns="0" tIns="0" bIns="0">
            <a:spAutoFit/>
          </a:bodyPr>
          <a:lstStyle/>
          <a:p>
            <a:pPr>
              <a:defRPr sz="2400" b="1">
                <a:solidFill>
                  <a:srgbClr val="10B981"/>
                </a:solidFill>
                <a:latin typeface="Calibri"/>
              </a:defRPr>
            </a:pPr>
            <a:r>
              <a:t>p = 0.0099</a:t>
            </a:r>
          </a:p>
          <a:p>
            <a:pPr>
              <a:defRPr sz="1100" b="1">
                <a:solidFill>
                  <a:srgbClr val="1E293B"/>
                </a:solidFill>
                <a:latin typeface="Calibri"/>
              </a:defRPr>
            </a:pPr>
            <a:r>
              <a:t>Empirical p-Value (p &lt; 0.01)</a:t>
            </a:r>
          </a:p>
          <a:p>
            <a:pPr>
              <a:defRPr sz="950">
                <a:solidFill>
                  <a:srgbClr val="475569"/>
                </a:solidFill>
                <a:latin typeface="Calibri"/>
              </a:defRPr>
            </a:pPr>
            <a:r>
              <a:t>0 of 100 trials reached 0.2484</a:t>
            </a:r>
            <a:br/>
            <a:r>
              <a:t>Formally rejects null hypothesis</a:t>
            </a:r>
          </a:p>
        </p:txBody>
      </p:sp>
      <p:pic>
        <p:nvPicPr>
          <p:cNvPr id="11" name="Picture 10" descr="F3_permutation_null.png"/>
          <p:cNvPicPr>
            <a:picLocks noChangeAspect="1"/>
          </p:cNvPicPr>
          <p:nvPr/>
        </p:nvPicPr>
        <p:blipFill>
          <a:blip r:embed="rId2"/>
          <a:stretch>
            <a:fillRect/>
          </a:stretch>
        </p:blipFill>
        <p:spPr>
          <a:xfrm>
            <a:off x="731520" y="2743200"/>
            <a:ext cx="5669280" cy="3519359"/>
          </a:xfrm>
          <a:prstGeom prst="rect">
            <a:avLst/>
          </a:prstGeom>
        </p:spPr>
      </p:pic>
      <p:sp>
        <p:nvSpPr>
          <p:cNvPr id="12" name="Rounded Rectangle 11"/>
          <p:cNvSpPr/>
          <p:nvPr/>
        </p:nvSpPr>
        <p:spPr>
          <a:xfrm>
            <a:off x="6675120" y="2743200"/>
            <a:ext cx="47548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2880360"/>
            <a:ext cx="4389120" cy="320040"/>
          </a:xfrm>
          <a:prstGeom prst="rect">
            <a:avLst/>
          </a:prstGeom>
          <a:noFill/>
        </p:spPr>
        <p:txBody>
          <a:bodyPr wrap="square" lIns="0" rIns="0" tIns="0" bIns="0">
            <a:spAutoFit/>
          </a:bodyPr>
          <a:lstStyle/>
          <a:p>
            <a:pPr>
              <a:defRPr sz="1300" b="1">
                <a:solidFill>
                  <a:srgbClr val="1E293B"/>
                </a:solidFill>
                <a:latin typeface="Calibri"/>
              </a:defRPr>
            </a:pPr>
            <a:r>
              <a:t>Rigorous Non-Parametric Proof</a:t>
            </a:r>
          </a:p>
        </p:txBody>
      </p:sp>
      <p:sp>
        <p:nvSpPr>
          <p:cNvPr id="14" name="TextBox 13"/>
          <p:cNvSpPr txBox="1"/>
          <p:nvPr/>
        </p:nvSpPr>
        <p:spPr>
          <a:xfrm>
            <a:off x="6858000" y="3200400"/>
            <a:ext cx="4389120" cy="2834640"/>
          </a:xfrm>
          <a:prstGeom prst="rect">
            <a:avLst/>
          </a:prstGeom>
          <a:noFill/>
        </p:spPr>
        <p:txBody>
          <a:bodyPr wrap="square">
            <a:spAutoFit/>
          </a:bodyPr>
          <a:lstStyle/>
          <a:p>
            <a:pPr>
              <a:spcAft>
                <a:spcPts val="1000"/>
              </a:spcAft>
            </a:pPr>
            <a:r>
              <a:rPr b="1" sz="1050">
                <a:solidFill>
                  <a:srgbClr val="1E293B"/>
                </a:solidFill>
                <a:latin typeface="Calibri"/>
              </a:rPr>
              <a:t>The Null Hypothesis (H0): </a:t>
            </a:r>
            <a:r>
              <a:rPr sz="1050">
                <a:solidFill>
                  <a:srgbClr val="475569"/>
                </a:solidFill>
                <a:latin typeface="Calibri"/>
              </a:rPr>
              <a:t>Classical-quantum kernel alignment is a chance artifact of finite sample size (N=150) or random quantum state concentration.</a:t>
            </a:r>
          </a:p>
          <a:p>
            <a:pPr>
              <a:spcAft>
                <a:spcPts val="1000"/>
              </a:spcAft>
            </a:pPr>
            <a:r>
              <a:rPr b="1" sz="1050">
                <a:solidFill>
                  <a:srgbClr val="1E293B"/>
                </a:solidFill>
                <a:latin typeface="Calibri"/>
              </a:rPr>
              <a:t>Experimental Protocol: </a:t>
            </a:r>
            <a:r>
              <a:rPr sz="1050">
                <a:solidFill>
                  <a:srgbClr val="475569"/>
                </a:solidFill>
                <a:latin typeface="Calibri"/>
              </a:rPr>
              <a:t>Evaluated 100 independent quantum kernels (~72 minutes total compute) where feature columns were randomly shuffled across observations.</a:t>
            </a:r>
          </a:p>
          <a:p>
            <a:pPr>
              <a:spcAft>
                <a:spcPts val="1000"/>
              </a:spcAft>
            </a:pPr>
            <a:r>
              <a:rPr b="1" sz="1050">
                <a:solidFill>
                  <a:srgbClr val="1E293B"/>
                </a:solidFill>
                <a:latin typeface="Calibri"/>
              </a:rPr>
              <a:t>Zero Null Overlap: </a:t>
            </a:r>
            <a:r>
              <a:rPr sz="1050">
                <a:solidFill>
                  <a:srgbClr val="475569"/>
                </a:solidFill>
                <a:latin typeface="Calibri"/>
              </a:rPr>
              <a:t>The highest CKA observed across all 100 random permutations was 0.2001. The unpermuted observed CKA (0.2484) exceeds the null maximum by a wide margin.</a:t>
            </a:r>
          </a:p>
          <a:p>
            <a:pPr>
              <a:spcAft>
                <a:spcPts val="1000"/>
              </a:spcAft>
            </a:pPr>
            <a:r>
              <a:rPr b="1" sz="1050">
                <a:solidFill>
                  <a:srgbClr val="1E293B"/>
                </a:solidFill>
                <a:latin typeface="Calibri"/>
              </a:rPr>
              <a:t>Simultaneous Coherence &amp; Divergence: </a:t>
            </a:r>
            <a:r>
              <a:rPr sz="1050">
                <a:solidFill>
                  <a:srgbClr val="475569"/>
                </a:solidFill>
                <a:latin typeface="Calibri"/>
              </a:rPr>
              <a:t>Proves the representation is structured and non-random (z = +8.91), while maintaining genuine structural divergence from classical RBF (CKA = 0.2484 &lt;&lt;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LOCAL NEIGHBORHOOD ANALYSIS</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Scale-Invariant Neighborhood Rewiring</a:t>
            </a:r>
          </a:p>
          <a:p>
            <a:pPr>
              <a:defRPr sz="1200">
                <a:solidFill>
                  <a:srgbClr val="475569"/>
                </a:solidFill>
                <a:latin typeface="Calibri"/>
              </a:defRPr>
            </a:pPr>
            <a:r>
              <a:t>Evaluating nearest-neighbor Jaccard graph overlap across multiple radii k in {5, 10, 15, 20}.</a:t>
            </a:r>
          </a:p>
        </p:txBody>
      </p:sp>
      <p:pic>
        <p:nvPicPr>
          <p:cNvPr id="5" name="Picture 4" descr="F4_jaccard_distribution.png"/>
          <p:cNvPicPr>
            <a:picLocks noChangeAspect="1"/>
          </p:cNvPicPr>
          <p:nvPr/>
        </p:nvPicPr>
        <p:blipFill>
          <a:blip r:embed="rId2"/>
          <a:stretch>
            <a:fillRect/>
          </a:stretch>
        </p:blipFill>
        <p:spPr>
          <a:xfrm>
            <a:off x="731520" y="1463040"/>
            <a:ext cx="5669280" cy="1397986"/>
          </a:xfrm>
          <a:prstGeom prst="rect">
            <a:avLst/>
          </a:prstGeom>
        </p:spPr>
      </p:pic>
      <p:sp>
        <p:nvSpPr>
          <p:cNvPr id="6" name="Rounded Rectangle 5"/>
          <p:cNvSpPr/>
          <p:nvPr/>
        </p:nvSpPr>
        <p:spPr>
          <a:xfrm>
            <a:off x="6675120" y="1463040"/>
            <a:ext cx="47548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00200"/>
            <a:ext cx="4389120" cy="320040"/>
          </a:xfrm>
          <a:prstGeom prst="rect">
            <a:avLst/>
          </a:prstGeom>
          <a:noFill/>
        </p:spPr>
        <p:txBody>
          <a:bodyPr wrap="square" lIns="0" rIns="0" tIns="0" bIns="0">
            <a:spAutoFit/>
          </a:bodyPr>
          <a:lstStyle/>
          <a:p>
            <a:pPr>
              <a:defRPr sz="1300" b="1">
                <a:solidFill>
                  <a:srgbClr val="1E293B"/>
                </a:solidFill>
                <a:latin typeface="Calibri"/>
              </a:defRPr>
            </a:pPr>
            <a:r>
              <a:t>Multi-Scale Topology Metrics</a:t>
            </a:r>
          </a:p>
        </p:txBody>
      </p:sp>
      <p:graphicFrame>
        <p:nvGraphicFramePr>
          <p:cNvPr id="8" name="Table 7"/>
          <p:cNvGraphicFramePr>
            <a:graphicFrameLocks noGrp="1"/>
          </p:cNvGraphicFramePr>
          <p:nvPr/>
        </p:nvGraphicFramePr>
        <p:xfrm>
          <a:off x="6858000" y="2011680"/>
          <a:ext cx="4389120" cy="1645920"/>
        </p:xfrm>
        <a:graphic>
          <a:graphicData uri="http://schemas.openxmlformats.org/drawingml/2006/table">
            <a:tbl>
              <a:tblPr firstRow="1" bandRow="1">
                <a:tableStyleId>{5C22544A-7EE6-4342-B048-85BDC9FD1C3A}</a:tableStyleId>
              </a:tblPr>
              <a:tblGrid>
                <a:gridCol w="1463040"/>
                <a:gridCol w="1463040"/>
                <a:gridCol w="1463040"/>
              </a:tblGrid>
              <a:tr h="329184">
                <a:tc>
                  <a:txBody>
                    <a:bodyPr/>
                    <a:lstStyle/>
                    <a:p>
                      <a:pPr algn="ctr">
                        <a:defRPr sz="1000" b="1">
                          <a:solidFill>
                            <a:srgbClr val="FFFFFF"/>
                          </a:solidFill>
                          <a:latin typeface="Calibri"/>
                        </a:defRPr>
                      </a:pPr>
                      <a:r>
                        <a:t>Neighborhood (k)</a:t>
                      </a:r>
                    </a:p>
                  </a:txBody>
                  <a:tcPr>
                    <a:solidFill>
                      <a:srgbClr val="1E293B"/>
                    </a:solidFill>
                  </a:tcPr>
                </a:tc>
                <a:tc>
                  <a:txBody>
                    <a:bodyPr/>
                    <a:lstStyle/>
                    <a:p>
                      <a:pPr algn="ctr">
                        <a:defRPr sz="1000" b="1">
                          <a:solidFill>
                            <a:srgbClr val="FFFFFF"/>
                          </a:solidFill>
                          <a:latin typeface="Calibri"/>
                        </a:defRPr>
                      </a:pPr>
                      <a:r>
                        <a:t>Mean Jaccard</a:t>
                      </a:r>
                    </a:p>
                  </a:txBody>
                  <a:tcPr>
                    <a:solidFill>
                      <a:srgbClr val="1E293B"/>
                    </a:solidFill>
                  </a:tcPr>
                </a:tc>
                <a:tc>
                  <a:txBody>
                    <a:bodyPr/>
                    <a:lstStyle/>
                    <a:p>
                      <a:pPr algn="ctr">
                        <a:defRPr sz="1000" b="1">
                          <a:solidFill>
                            <a:srgbClr val="FFFFFF"/>
                          </a:solidFill>
                          <a:latin typeface="Calibri"/>
                        </a:defRPr>
                      </a:pPr>
                      <a:r>
                        <a:t>Std Dev</a:t>
                      </a:r>
                    </a:p>
                  </a:txBody>
                  <a:tcPr>
                    <a:solidFill>
                      <a:srgbClr val="1E293B"/>
                    </a:solidFill>
                  </a:tcPr>
                </a:tc>
              </a:tr>
              <a:tr h="329184">
                <a:tc>
                  <a:txBody>
                    <a:bodyPr/>
                    <a:lstStyle/>
                    <a:p>
                      <a:pPr>
                        <a:defRPr sz="1000" b="1">
                          <a:solidFill>
                            <a:srgbClr val="1E293B"/>
                          </a:solidFill>
                          <a:latin typeface="Calibri"/>
                        </a:defRPr>
                      </a:pPr>
                      <a:r>
                        <a:t>k = 5</a:t>
                      </a:r>
                    </a:p>
                  </a:txBody>
                  <a:tcPr>
                    <a:solidFill>
                      <a:srgbClr val="FFFFFF"/>
                    </a:solidFill>
                  </a:tcPr>
                </a:tc>
                <a:tc>
                  <a:txBody>
                    <a:bodyPr/>
                    <a:lstStyle/>
                    <a:p>
                      <a:pPr algn="ctr">
                        <a:defRPr sz="1000">
                          <a:solidFill>
                            <a:srgbClr val="1E293B"/>
                          </a:solidFill>
                          <a:latin typeface="Calibri"/>
                        </a:defRPr>
                      </a:pPr>
                      <a:r>
                        <a:t>0.0760</a:t>
                      </a:r>
                    </a:p>
                  </a:txBody>
                  <a:tcPr>
                    <a:solidFill>
                      <a:srgbClr val="FFFFFF"/>
                    </a:solidFill>
                  </a:tcPr>
                </a:tc>
                <a:tc>
                  <a:txBody>
                    <a:bodyPr/>
                    <a:lstStyle/>
                    <a:p>
                      <a:pPr algn="ctr">
                        <a:defRPr sz="1000">
                          <a:solidFill>
                            <a:srgbClr val="1E293B"/>
                          </a:solidFill>
                          <a:latin typeface="Calibri"/>
                        </a:defRPr>
                      </a:pPr>
                      <a:r>
                        <a:t>± 0.0812</a:t>
                      </a:r>
                    </a:p>
                  </a:txBody>
                  <a:tcPr>
                    <a:solidFill>
                      <a:srgbClr val="FFFFFF"/>
                    </a:solidFill>
                  </a:tcPr>
                </a:tc>
              </a:tr>
              <a:tr h="329184">
                <a:tc>
                  <a:txBody>
                    <a:bodyPr/>
                    <a:lstStyle/>
                    <a:p>
                      <a:pPr>
                        <a:defRPr sz="1000" b="1">
                          <a:solidFill>
                            <a:srgbClr val="1E293B"/>
                          </a:solidFill>
                          <a:latin typeface="Calibri"/>
                        </a:defRPr>
                      </a:pPr>
                      <a:r>
                        <a:t>k = 10</a:t>
                      </a:r>
                    </a:p>
                  </a:txBody>
                  <a:tcPr>
                    <a:solidFill>
                      <a:srgbClr val="F1F5F9"/>
                    </a:solidFill>
                  </a:tcPr>
                </a:tc>
                <a:tc>
                  <a:txBody>
                    <a:bodyPr/>
                    <a:lstStyle/>
                    <a:p>
                      <a:pPr algn="ctr">
                        <a:defRPr sz="1000">
                          <a:solidFill>
                            <a:srgbClr val="1E293B"/>
                          </a:solidFill>
                          <a:latin typeface="Calibri"/>
                        </a:defRPr>
                      </a:pPr>
                      <a:r>
                        <a:t>0.1004</a:t>
                      </a:r>
                    </a:p>
                  </a:txBody>
                  <a:tcPr>
                    <a:solidFill>
                      <a:srgbClr val="F1F5F9"/>
                    </a:solidFill>
                  </a:tcPr>
                </a:tc>
                <a:tc>
                  <a:txBody>
                    <a:bodyPr/>
                    <a:lstStyle/>
                    <a:p>
                      <a:pPr algn="ctr">
                        <a:defRPr sz="1000">
                          <a:solidFill>
                            <a:srgbClr val="1E293B"/>
                          </a:solidFill>
                          <a:latin typeface="Calibri"/>
                        </a:defRPr>
                      </a:pPr>
                      <a:r>
                        <a:t>± 0.0799</a:t>
                      </a:r>
                    </a:p>
                  </a:txBody>
                  <a:tcPr>
                    <a:solidFill>
                      <a:srgbClr val="F1F5F9"/>
                    </a:solidFill>
                  </a:tcPr>
                </a:tc>
              </a:tr>
              <a:tr h="329184">
                <a:tc>
                  <a:txBody>
                    <a:bodyPr/>
                    <a:lstStyle/>
                    <a:p>
                      <a:pPr>
                        <a:defRPr sz="1000" b="1">
                          <a:solidFill>
                            <a:srgbClr val="1E293B"/>
                          </a:solidFill>
                          <a:latin typeface="Calibri"/>
                        </a:defRPr>
                      </a:pPr>
                      <a:r>
                        <a:t>k = 15</a:t>
                      </a:r>
                    </a:p>
                  </a:txBody>
                  <a:tcPr>
                    <a:solidFill>
                      <a:srgbClr val="FFFFFF"/>
                    </a:solidFill>
                  </a:tcPr>
                </a:tc>
                <a:tc>
                  <a:txBody>
                    <a:bodyPr/>
                    <a:lstStyle/>
                    <a:p>
                      <a:pPr algn="ctr">
                        <a:defRPr sz="1000">
                          <a:solidFill>
                            <a:srgbClr val="1E293B"/>
                          </a:solidFill>
                          <a:latin typeface="Calibri"/>
                        </a:defRPr>
                      </a:pPr>
                      <a:r>
                        <a:t>0.1121</a:t>
                      </a:r>
                    </a:p>
                  </a:txBody>
                  <a:tcPr>
                    <a:solidFill>
                      <a:srgbClr val="FFFFFF"/>
                    </a:solidFill>
                  </a:tcPr>
                </a:tc>
                <a:tc>
                  <a:txBody>
                    <a:bodyPr/>
                    <a:lstStyle/>
                    <a:p>
                      <a:pPr algn="ctr">
                        <a:defRPr sz="1000">
                          <a:solidFill>
                            <a:srgbClr val="1E293B"/>
                          </a:solidFill>
                          <a:latin typeface="Calibri"/>
                        </a:defRPr>
                      </a:pPr>
                      <a:r>
                        <a:t>± 0.0741</a:t>
                      </a:r>
                    </a:p>
                  </a:txBody>
                  <a:tcPr>
                    <a:solidFill>
                      <a:srgbClr val="FFFFFF"/>
                    </a:solidFill>
                  </a:tcPr>
                </a:tc>
              </a:tr>
              <a:tr h="329184">
                <a:tc>
                  <a:txBody>
                    <a:bodyPr/>
                    <a:lstStyle/>
                    <a:p>
                      <a:pPr>
                        <a:defRPr sz="1000" b="1">
                          <a:solidFill>
                            <a:srgbClr val="1E293B"/>
                          </a:solidFill>
                          <a:latin typeface="Calibri"/>
                        </a:defRPr>
                      </a:pPr>
                      <a:r>
                        <a:t>k = 20</a:t>
                      </a:r>
                    </a:p>
                  </a:txBody>
                  <a:tcPr>
                    <a:solidFill>
                      <a:srgbClr val="F1F5F9"/>
                    </a:solidFill>
                  </a:tcPr>
                </a:tc>
                <a:tc>
                  <a:txBody>
                    <a:bodyPr/>
                    <a:lstStyle/>
                    <a:p>
                      <a:pPr algn="ctr">
                        <a:defRPr sz="1000">
                          <a:solidFill>
                            <a:srgbClr val="1E293B"/>
                          </a:solidFill>
                          <a:latin typeface="Calibri"/>
                        </a:defRPr>
                      </a:pPr>
                      <a:r>
                        <a:t>0.1168</a:t>
                      </a:r>
                    </a:p>
                  </a:txBody>
                  <a:tcPr>
                    <a:solidFill>
                      <a:srgbClr val="F1F5F9"/>
                    </a:solidFill>
                  </a:tcPr>
                </a:tc>
                <a:tc>
                  <a:txBody>
                    <a:bodyPr/>
                    <a:lstStyle/>
                    <a:p>
                      <a:pPr algn="ctr">
                        <a:defRPr sz="1000">
                          <a:solidFill>
                            <a:srgbClr val="1E293B"/>
                          </a:solidFill>
                          <a:latin typeface="Calibri"/>
                        </a:defRPr>
                      </a:pPr>
                      <a:r>
                        <a:t>± 0.0689</a:t>
                      </a:r>
                    </a:p>
                  </a:txBody>
                  <a:tcPr>
                    <a:solidFill>
                      <a:srgbClr val="F1F5F9"/>
                    </a:solidFill>
                  </a:tcPr>
                </a:tc>
              </a:tr>
            </a:tbl>
          </a:graphicData>
        </a:graphic>
      </p:graphicFrame>
      <p:sp>
        <p:nvSpPr>
          <p:cNvPr id="9" name="TextBox 8"/>
          <p:cNvSpPr txBox="1"/>
          <p:nvPr/>
        </p:nvSpPr>
        <p:spPr>
          <a:xfrm>
            <a:off x="6858000" y="3840480"/>
            <a:ext cx="4389120" cy="2194560"/>
          </a:xfrm>
          <a:prstGeom prst="rect">
            <a:avLst/>
          </a:prstGeom>
          <a:noFill/>
        </p:spPr>
        <p:txBody>
          <a:bodyPr wrap="square">
            <a:spAutoFit/>
          </a:bodyPr>
          <a:lstStyle/>
          <a:p>
            <a:pPr>
              <a:spcAft>
                <a:spcPts val="800"/>
              </a:spcAft>
            </a:pPr>
            <a:r>
              <a:rPr b="1" sz="1000">
                <a:solidFill>
                  <a:srgbClr val="1E293B"/>
                </a:solidFill>
                <a:latin typeface="Calibri"/>
              </a:rPr>
              <a:t>Consistent Topological Displacement: </a:t>
            </a:r>
            <a:r>
              <a:rPr sz="1000">
                <a:solidFill>
                  <a:srgbClr val="475569"/>
                </a:solidFill>
                <a:latin typeface="Calibri"/>
              </a:rPr>
              <a:t>Across all neighborhood radii from k=5 to k=20, nearest neighbor overlap remains remarkably low (7.6% to 11.7%).</a:t>
            </a:r>
          </a:p>
          <a:p>
            <a:pPr>
              <a:spcAft>
                <a:spcPts val="800"/>
              </a:spcAft>
            </a:pPr>
            <a:r>
              <a:rPr b="1" sz="1000">
                <a:solidFill>
                  <a:srgbClr val="1E293B"/>
                </a:solidFill>
                <a:latin typeface="Calibri"/>
              </a:rPr>
              <a:t>Asymptotic Plateau: </a:t>
            </a:r>
            <a:r>
              <a:rPr sz="1000">
                <a:solidFill>
                  <a:srgbClr val="475569"/>
                </a:solidFill>
                <a:latin typeface="Calibri"/>
              </a:rPr>
              <a:t>As k scales by 400% (5 -&gt; 20), mean Jaccard overlap only increases by 4 percentage points, proving that the geometric displacement is global rather than a boundary artifact.</a:t>
            </a:r>
          </a:p>
          <a:p>
            <a:pPr>
              <a:spcAft>
                <a:spcPts val="800"/>
              </a:spcAft>
            </a:pPr>
            <a:r>
              <a:rPr b="1" sz="1000">
                <a:solidFill>
                  <a:srgbClr val="1E293B"/>
                </a:solidFill>
                <a:latin typeface="Calibri"/>
              </a:rPr>
              <a:t>Algorithmic Consequence: </a:t>
            </a:r>
            <a:r>
              <a:rPr sz="1000">
                <a:solidFill>
                  <a:srgbClr val="475569"/>
                </a:solidFill>
                <a:latin typeface="Calibri"/>
              </a:rPr>
              <a:t>Any density-based classical exploratory tool (e.g., DBSCAN, LOF) will construct fundamentally distinct cluster hierarchies and outlier boundaries in quantum space.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CANDIDATE DISCOVERY</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The QI_v2 Landscape &amp; Quantum-Specific Outliers</a:t>
            </a:r>
          </a:p>
          <a:p>
            <a:pPr>
              <a:defRPr sz="1200">
                <a:solidFill>
                  <a:srgbClr val="475569"/>
                </a:solidFill>
                <a:latin typeface="Calibri"/>
              </a:defRPr>
            </a:pPr>
            <a:r>
              <a:t>Surfacing 13 high-interest exploratory candidates missed by classical Isolation Forest.</a:t>
            </a:r>
          </a:p>
        </p:txBody>
      </p:sp>
      <p:pic>
        <p:nvPicPr>
          <p:cNvPr id="5" name="Picture 4" descr="F5_qi_landscape.png"/>
          <p:cNvPicPr>
            <a:picLocks noChangeAspect="1"/>
          </p:cNvPicPr>
          <p:nvPr/>
        </p:nvPicPr>
        <p:blipFill>
          <a:blip r:embed="rId2"/>
          <a:stretch>
            <a:fillRect/>
          </a:stretch>
        </p:blipFill>
        <p:spPr>
          <a:xfrm>
            <a:off x="731520" y="1463040"/>
            <a:ext cx="5669280" cy="1889760"/>
          </a:xfrm>
          <a:prstGeom prst="rect">
            <a:avLst/>
          </a:prstGeom>
        </p:spPr>
      </p:pic>
      <p:sp>
        <p:nvSpPr>
          <p:cNvPr id="6" name="Rounded Rectangle 5"/>
          <p:cNvSpPr/>
          <p:nvPr/>
        </p:nvSpPr>
        <p:spPr>
          <a:xfrm>
            <a:off x="6675120" y="1463040"/>
            <a:ext cx="47548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00200"/>
            <a:ext cx="4389120" cy="320040"/>
          </a:xfrm>
          <a:prstGeom prst="rect">
            <a:avLst/>
          </a:prstGeom>
          <a:noFill/>
        </p:spPr>
        <p:txBody>
          <a:bodyPr wrap="square" lIns="0" rIns="0" tIns="0" bIns="0">
            <a:spAutoFit/>
          </a:bodyPr>
          <a:lstStyle/>
          <a:p>
            <a:pPr>
              <a:defRPr sz="1300" b="1">
                <a:solidFill>
                  <a:srgbClr val="1E293B"/>
                </a:solidFill>
                <a:latin typeface="Calibri"/>
              </a:defRPr>
            </a:pPr>
            <a:r>
              <a:t>4-Quadrant Candidate Profiling</a:t>
            </a:r>
          </a:p>
        </p:txBody>
      </p:sp>
      <p:sp>
        <p:nvSpPr>
          <p:cNvPr id="8" name="TextBox 7"/>
          <p:cNvSpPr txBox="1"/>
          <p:nvPr/>
        </p:nvSpPr>
        <p:spPr>
          <a:xfrm>
            <a:off x="6858000" y="1920240"/>
            <a:ext cx="4389120" cy="4114800"/>
          </a:xfrm>
          <a:prstGeom prst="rect">
            <a:avLst/>
          </a:prstGeom>
          <a:noFill/>
        </p:spPr>
        <p:txBody>
          <a:bodyPr wrap="square">
            <a:spAutoFit/>
          </a:bodyPr>
          <a:lstStyle/>
          <a:p>
            <a:pPr>
              <a:spcAft>
                <a:spcPts val="1200"/>
              </a:spcAft>
            </a:pPr>
            <a:r>
              <a:rPr b="1" sz="1050">
                <a:solidFill>
                  <a:srgbClr val="1E293B"/>
                </a:solidFill>
                <a:latin typeface="Calibri"/>
              </a:rPr>
              <a:t>Quantum-Only Candidates (N=13): </a:t>
            </a:r>
            <a:r>
              <a:rPr sz="1050">
                <a:solidFill>
                  <a:srgbClr val="475569"/>
                </a:solidFill>
                <a:latin typeface="Calibri"/>
              </a:rPr>
              <a:t>Observations with CAS &lt; 0.90 (classical typicality) but QAS &gt; 0.90 or QI &gt; 0.90. These are novel candidates surfaced uniquely by quantum geometry.</a:t>
            </a:r>
          </a:p>
          <a:p>
            <a:pPr>
              <a:spcAft>
                <a:spcPts val="1200"/>
              </a:spcAft>
            </a:pPr>
            <a:r>
              <a:rPr b="1" sz="1050">
                <a:solidFill>
                  <a:srgbClr val="1E293B"/>
                </a:solidFill>
                <a:latin typeface="Calibri"/>
              </a:rPr>
              <a:t>Classical-Only Outliers (N=13): </a:t>
            </a:r>
            <a:r>
              <a:rPr sz="1050">
                <a:solidFill>
                  <a:srgbClr val="475569"/>
                </a:solidFill>
                <a:latin typeface="Calibri"/>
              </a:rPr>
              <a:t>Severe Euclidean/spatial outliers identified by Isolation Forest that appear normal in quantum state fidelity.</a:t>
            </a:r>
          </a:p>
          <a:p>
            <a:pPr>
              <a:spcAft>
                <a:spcPts val="1200"/>
              </a:spcAft>
            </a:pPr>
            <a:r>
              <a:rPr b="1" sz="1050">
                <a:solidFill>
                  <a:srgbClr val="1E293B"/>
                </a:solidFill>
                <a:latin typeface="Calibri"/>
              </a:rPr>
              <a:t>Consensus Outliers (N=2): </a:t>
            </a:r>
            <a:r>
              <a:rPr sz="1050">
                <a:solidFill>
                  <a:srgbClr val="475569"/>
                </a:solidFill>
                <a:latin typeface="Calibri"/>
              </a:rPr>
              <a:t>Points identified as unusual across both representations (top-10 overlap = 0.20).</a:t>
            </a:r>
          </a:p>
          <a:p>
            <a:pPr>
              <a:spcAft>
                <a:spcPts val="1200"/>
              </a:spcAft>
            </a:pPr>
            <a:r>
              <a:rPr b="1" sz="1050">
                <a:solidFill>
                  <a:srgbClr val="1E293B"/>
                </a:solidFill>
                <a:latin typeface="Calibri"/>
              </a:rPr>
              <a:t>Feature Profile of Quantum Candidates: </a:t>
            </a:r>
            <a:r>
              <a:rPr sz="1050">
                <a:solidFill>
                  <a:srgbClr val="475569"/>
                </a:solidFill>
                <a:latin typeface="Calibri"/>
              </a:rPr>
              <a:t>Candidate profiling reveals that quantum-specific points often possess average 1D marginals (median alcohol, median acidity) but unusual multi-variable phase coupling—exactly what entanglement is designed to isolate.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METRIC ROBUSTNESS</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Ablation Study &amp; Hyperparameter Stability</a:t>
            </a:r>
          </a:p>
          <a:p>
            <a:pPr>
              <a:defRPr sz="1200">
                <a:solidFill>
                  <a:srgbClr val="475569"/>
                </a:solidFill>
                <a:latin typeface="Calibri"/>
              </a:defRPr>
            </a:pPr>
            <a:r>
              <a:t>Assessing component contributions and ranking stability across continuous lambda sweeps.</a:t>
            </a:r>
          </a:p>
        </p:txBody>
      </p:sp>
      <p:pic>
        <p:nvPicPr>
          <p:cNvPr id="5" name="Picture 4" descr="F7_ablation.png"/>
          <p:cNvPicPr>
            <a:picLocks noChangeAspect="1"/>
          </p:cNvPicPr>
          <p:nvPr/>
        </p:nvPicPr>
        <p:blipFill>
          <a:blip r:embed="rId2"/>
          <a:stretch>
            <a:fillRect/>
          </a:stretch>
        </p:blipFill>
        <p:spPr>
          <a:xfrm>
            <a:off x="731520" y="1463040"/>
            <a:ext cx="5486400" cy="1949247"/>
          </a:xfrm>
          <a:prstGeom prst="rect">
            <a:avLst/>
          </a:prstGeom>
        </p:spPr>
      </p:pic>
      <p:sp>
        <p:nvSpPr>
          <p:cNvPr id="6" name="Rounded Rectangle 5"/>
          <p:cNvSpPr/>
          <p:nvPr/>
        </p:nvSpPr>
        <p:spPr>
          <a:xfrm>
            <a:off x="6492240" y="1463040"/>
            <a:ext cx="493776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600200"/>
            <a:ext cx="4572000" cy="320040"/>
          </a:xfrm>
          <a:prstGeom prst="rect">
            <a:avLst/>
          </a:prstGeom>
          <a:noFill/>
        </p:spPr>
        <p:txBody>
          <a:bodyPr wrap="square" lIns="0" rIns="0" tIns="0" bIns="0">
            <a:spAutoFit/>
          </a:bodyPr>
          <a:lstStyle/>
          <a:p>
            <a:pPr>
              <a:defRPr sz="1300" b="1">
                <a:solidFill>
                  <a:srgbClr val="1E293B"/>
                </a:solidFill>
                <a:latin typeface="Calibri"/>
              </a:defRPr>
            </a:pPr>
            <a:r>
              <a:t>Sensitivity &amp; Redundancy Analysis</a:t>
            </a:r>
          </a:p>
        </p:txBody>
      </p:sp>
      <p:sp>
        <p:nvSpPr>
          <p:cNvPr id="8" name="TextBox 7"/>
          <p:cNvSpPr txBox="1"/>
          <p:nvPr/>
        </p:nvSpPr>
        <p:spPr>
          <a:xfrm>
            <a:off x="6675120" y="1920240"/>
            <a:ext cx="4572000" cy="4114800"/>
          </a:xfrm>
          <a:prstGeom prst="rect">
            <a:avLst/>
          </a:prstGeom>
          <a:noFill/>
        </p:spPr>
        <p:txBody>
          <a:bodyPr wrap="square">
            <a:spAutoFit/>
          </a:bodyPr>
          <a:lstStyle/>
          <a:p>
            <a:pPr>
              <a:spcAft>
                <a:spcPts val="1200"/>
              </a:spcAft>
            </a:pPr>
            <a:r>
              <a:rPr b="1" sz="1050">
                <a:solidFill>
                  <a:srgbClr val="1E293B"/>
                </a:solidFill>
                <a:latin typeface="Calibri"/>
              </a:rPr>
              <a:t>Continuous λ Sweep [0.1, 0.9]: </a:t>
            </a:r>
            <a:r>
              <a:rPr sz="1050">
                <a:solidFill>
                  <a:srgbClr val="475569"/>
                </a:solidFill>
                <a:latin typeface="Calibri"/>
              </a:rPr>
              <a:t>Evaluated Spearman rank correlations across weight configurations: Mean Spearman rho = 0.9697 (95% CI: [0.9220, 0.9999]).</a:t>
            </a:r>
          </a:p>
          <a:p>
            <a:pPr>
              <a:spcAft>
                <a:spcPts val="1200"/>
              </a:spcAft>
            </a:pPr>
            <a:r>
              <a:rPr b="1" sz="1050">
                <a:solidFill>
                  <a:srgbClr val="1E293B"/>
                </a:solidFill>
                <a:latin typeface="Calibri"/>
              </a:rPr>
              <a:t>Minimum Correlation: </a:t>
            </a:r>
            <a:r>
              <a:rPr sz="1050">
                <a:solidFill>
                  <a:srgbClr val="475569"/>
                </a:solidFill>
                <a:latin typeface="Calibri"/>
              </a:rPr>
              <a:t>Even comparing extreme configurations (λ = 0.1 vs λ = 0.9), ranking correlation never dropped below rho = 0.9165. The candidate ordering is mathematically stable.</a:t>
            </a:r>
          </a:p>
          <a:p>
            <a:pPr>
              <a:spcAft>
                <a:spcPts val="1200"/>
              </a:spcAft>
            </a:pPr>
            <a:r>
              <a:rPr b="1" sz="1050">
                <a:solidFill>
                  <a:srgbClr val="1E293B"/>
                </a:solidFill>
                <a:latin typeface="Calibri"/>
              </a:rPr>
              <a:t>Component Independence: </a:t>
            </a:r>
            <a:r>
              <a:rPr sz="1050">
                <a:solidFill>
                  <a:srgbClr val="475569"/>
                </a:solidFill>
                <a:latin typeface="Calibri"/>
              </a:rPr>
              <a:t>Spearman correlation between QAS and N is rho = 0.6392 (moderately correlated but distinct), while QAS vs CAS sits at rho = 0.1954 (nearly orthogonal).</a:t>
            </a:r>
          </a:p>
          <a:p>
            <a:pPr>
              <a:spcAft>
                <a:spcPts val="1200"/>
              </a:spcAft>
            </a:pPr>
            <a:r>
              <a:rPr b="1" sz="1050">
                <a:solidFill>
                  <a:srgbClr val="1E293B"/>
                </a:solidFill>
                <a:latin typeface="Calibri"/>
              </a:rPr>
              <a:t>Ablation Takeaway: </a:t>
            </a:r>
            <a:r>
              <a:rPr sz="1050">
                <a:solidFill>
                  <a:srgbClr val="475569"/>
                </a:solidFill>
                <a:latin typeface="Calibri"/>
              </a:rPr>
              <a:t>Ablation of individual components (removing B, removing RD) causes significant ranking degradation, confirming that all terms contribute essential structural information.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CROSS-DOMAIN GENERALIZABILITY</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Consistent Structural Divergence Across 3 Real-World Datasets</a:t>
            </a:r>
          </a:p>
          <a:p>
            <a:pPr>
              <a:defRPr sz="1200">
                <a:solidFill>
                  <a:srgbClr val="475569"/>
                </a:solidFill>
                <a:latin typeface="Calibri"/>
              </a:defRPr>
            </a:pPr>
            <a:r>
              <a:t>Verifying representation divergence across sensory chemistry, cultivar chemistry, and clinical diagnostics.</a:t>
            </a:r>
          </a:p>
        </p:txBody>
      </p:sp>
      <p:pic>
        <p:nvPicPr>
          <p:cNvPr id="5" name="Picture 4" descr="F8_cross_dataset.png"/>
          <p:cNvPicPr>
            <a:picLocks noChangeAspect="1"/>
          </p:cNvPicPr>
          <p:nvPr/>
        </p:nvPicPr>
        <p:blipFill>
          <a:blip r:embed="rId2"/>
          <a:stretch>
            <a:fillRect/>
          </a:stretch>
        </p:blipFill>
        <p:spPr>
          <a:xfrm>
            <a:off x="731520" y="1463040"/>
            <a:ext cx="5303520" cy="1611414"/>
          </a:xfrm>
          <a:prstGeom prst="rect">
            <a:avLst/>
          </a:prstGeom>
        </p:spPr>
      </p:pic>
      <p:sp>
        <p:nvSpPr>
          <p:cNvPr id="6" name="Rounded Rectangle 5"/>
          <p:cNvSpPr/>
          <p:nvPr/>
        </p:nvSpPr>
        <p:spPr>
          <a:xfrm>
            <a:off x="630936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00200"/>
            <a:ext cx="4754880" cy="320040"/>
          </a:xfrm>
          <a:prstGeom prst="rect">
            <a:avLst/>
          </a:prstGeom>
          <a:noFill/>
        </p:spPr>
        <p:txBody>
          <a:bodyPr wrap="square" lIns="0" rIns="0" tIns="0" bIns="0">
            <a:spAutoFit/>
          </a:bodyPr>
          <a:lstStyle/>
          <a:p>
            <a:pPr>
              <a:defRPr sz="1300" b="1">
                <a:solidFill>
                  <a:srgbClr val="1E293B"/>
                </a:solidFill>
                <a:latin typeface="Calibri"/>
              </a:defRPr>
            </a:pPr>
            <a:r>
              <a:t>Cross-Dataset Benchmark Table</a:t>
            </a:r>
          </a:p>
        </p:txBody>
      </p:sp>
      <p:graphicFrame>
        <p:nvGraphicFramePr>
          <p:cNvPr id="8" name="Table 7"/>
          <p:cNvGraphicFramePr>
            <a:graphicFrameLocks noGrp="1"/>
          </p:cNvGraphicFramePr>
          <p:nvPr/>
        </p:nvGraphicFramePr>
        <p:xfrm>
          <a:off x="6492240" y="2011680"/>
          <a:ext cx="4754880" cy="1828800"/>
        </p:xfrm>
        <a:graphic>
          <a:graphicData uri="http://schemas.openxmlformats.org/drawingml/2006/table">
            <a:tbl>
              <a:tblPr firstRow="1" bandRow="1">
                <a:tableStyleId>{5C22544A-7EE6-4342-B048-85BDC9FD1C3A}</a:tableStyleId>
              </a:tblPr>
              <a:tblGrid>
                <a:gridCol w="2011680"/>
                <a:gridCol w="914400"/>
                <a:gridCol w="914400"/>
                <a:gridCol w="914400"/>
              </a:tblGrid>
              <a:tr h="457200">
                <a:tc>
                  <a:txBody>
                    <a:bodyPr/>
                    <a:lstStyle/>
                    <a:p>
                      <a:pPr algn="ctr">
                        <a:defRPr sz="950" b="1">
                          <a:solidFill>
                            <a:srgbClr val="FFFFFF"/>
                          </a:solidFill>
                          <a:latin typeface="Calibri"/>
                        </a:defRPr>
                      </a:pPr>
                      <a:r>
                        <a:t>Dataset Domain</a:t>
                      </a:r>
                    </a:p>
                  </a:txBody>
                  <a:tcPr>
                    <a:solidFill>
                      <a:srgbClr val="1E293B"/>
                    </a:solidFill>
                  </a:tcPr>
                </a:tc>
                <a:tc>
                  <a:txBody>
                    <a:bodyPr/>
                    <a:lstStyle/>
                    <a:p>
                      <a:pPr algn="ctr">
                        <a:defRPr sz="950" b="1">
                          <a:solidFill>
                            <a:srgbClr val="FFFFFF"/>
                          </a:solidFill>
                          <a:latin typeface="Calibri"/>
                        </a:defRPr>
                      </a:pPr>
                      <a:r>
                        <a:t>CKA</a:t>
                      </a:r>
                    </a:p>
                  </a:txBody>
                  <a:tcPr>
                    <a:solidFill>
                      <a:srgbClr val="1E293B"/>
                    </a:solidFill>
                  </a:tcPr>
                </a:tc>
                <a:tc>
                  <a:txBody>
                    <a:bodyPr/>
                    <a:lstStyle/>
                    <a:p>
                      <a:pPr algn="ctr">
                        <a:defRPr sz="950" b="1">
                          <a:solidFill>
                            <a:srgbClr val="FFFFFF"/>
                          </a:solidFill>
                          <a:latin typeface="Calibri"/>
                        </a:defRPr>
                      </a:pPr>
                      <a:r>
                        <a:t>Jaccard@10</a:t>
                      </a:r>
                    </a:p>
                  </a:txBody>
                  <a:tcPr>
                    <a:solidFill>
                      <a:srgbClr val="1E293B"/>
                    </a:solidFill>
                  </a:tcPr>
                </a:tc>
                <a:tc>
                  <a:txBody>
                    <a:bodyPr/>
                    <a:lstStyle/>
                    <a:p>
                      <a:pPr algn="ctr">
                        <a:defRPr sz="950" b="1">
                          <a:solidFill>
                            <a:srgbClr val="FFFFFF"/>
                          </a:solidFill>
                          <a:latin typeface="Calibri"/>
                        </a:defRPr>
                      </a:pPr>
                      <a:r>
                        <a:t>Q-Only</a:t>
                      </a:r>
                    </a:p>
                  </a:txBody>
                  <a:tcPr>
                    <a:solidFill>
                      <a:srgbClr val="1E293B"/>
                    </a:solidFill>
                  </a:tcPr>
                </a:tc>
              </a:tr>
              <a:tr h="457200">
                <a:tc>
                  <a:txBody>
                    <a:bodyPr/>
                    <a:lstStyle/>
                    <a:p>
                      <a:pPr>
                        <a:defRPr sz="950" b="1">
                          <a:solidFill>
                            <a:srgbClr val="1E293B"/>
                          </a:solidFill>
                          <a:latin typeface="Calibri"/>
                        </a:defRPr>
                      </a:pPr>
                      <a:r>
                        <a:t>UCI Red Wine (Sensory)</a:t>
                      </a:r>
                    </a:p>
                  </a:txBody>
                  <a:tcPr>
                    <a:solidFill>
                      <a:srgbClr val="FFFFFF"/>
                    </a:solidFill>
                  </a:tcPr>
                </a:tc>
                <a:tc>
                  <a:txBody>
                    <a:bodyPr/>
                    <a:lstStyle/>
                    <a:p>
                      <a:pPr algn="ctr">
                        <a:defRPr sz="950">
                          <a:solidFill>
                            <a:srgbClr val="1E293B"/>
                          </a:solidFill>
                          <a:latin typeface="Calibri"/>
                        </a:defRPr>
                      </a:pPr>
                      <a:r>
                        <a:t>0.2484</a:t>
                      </a:r>
                    </a:p>
                  </a:txBody>
                  <a:tcPr>
                    <a:solidFill>
                      <a:srgbClr val="FFFFFF"/>
                    </a:solidFill>
                  </a:tcPr>
                </a:tc>
                <a:tc>
                  <a:txBody>
                    <a:bodyPr/>
                    <a:lstStyle/>
                    <a:p>
                      <a:pPr algn="ctr">
                        <a:defRPr sz="950">
                          <a:solidFill>
                            <a:srgbClr val="1E293B"/>
                          </a:solidFill>
                          <a:latin typeface="Calibri"/>
                        </a:defRPr>
                      </a:pPr>
                      <a:r>
                        <a:t>0.1004</a:t>
                      </a:r>
                    </a:p>
                  </a:txBody>
                  <a:tcPr>
                    <a:solidFill>
                      <a:srgbClr val="FFFFFF"/>
                    </a:solidFill>
                  </a:tcPr>
                </a:tc>
                <a:tc>
                  <a:txBody>
                    <a:bodyPr/>
                    <a:lstStyle/>
                    <a:p>
                      <a:pPr algn="ctr">
                        <a:defRPr sz="950">
                          <a:solidFill>
                            <a:srgbClr val="1E293B"/>
                          </a:solidFill>
                          <a:latin typeface="Calibri"/>
                        </a:defRPr>
                      </a:pPr>
                      <a:r>
                        <a:t>13 / 150</a:t>
                      </a:r>
                    </a:p>
                  </a:txBody>
                  <a:tcPr>
                    <a:solidFill>
                      <a:srgbClr val="FFFFFF"/>
                    </a:solidFill>
                  </a:tcPr>
                </a:tc>
              </a:tr>
              <a:tr h="457200">
                <a:tc>
                  <a:txBody>
                    <a:bodyPr/>
                    <a:lstStyle/>
                    <a:p>
                      <a:pPr>
                        <a:defRPr sz="950" b="1">
                          <a:solidFill>
                            <a:srgbClr val="1E293B"/>
                          </a:solidFill>
                          <a:latin typeface="Calibri"/>
                        </a:defRPr>
                      </a:pPr>
                      <a:r>
                        <a:t>sklearn Wine (Chemical)</a:t>
                      </a:r>
                    </a:p>
                  </a:txBody>
                  <a:tcPr>
                    <a:solidFill>
                      <a:srgbClr val="F1F5F9"/>
                    </a:solidFill>
                  </a:tcPr>
                </a:tc>
                <a:tc>
                  <a:txBody>
                    <a:bodyPr/>
                    <a:lstStyle/>
                    <a:p>
                      <a:pPr algn="ctr">
                        <a:defRPr sz="950">
                          <a:solidFill>
                            <a:srgbClr val="1E293B"/>
                          </a:solidFill>
                          <a:latin typeface="Calibri"/>
                        </a:defRPr>
                      </a:pPr>
                      <a:r>
                        <a:t>0.4008</a:t>
                      </a:r>
                    </a:p>
                  </a:txBody>
                  <a:tcPr>
                    <a:solidFill>
                      <a:srgbClr val="F1F5F9"/>
                    </a:solidFill>
                  </a:tcPr>
                </a:tc>
                <a:tc>
                  <a:txBody>
                    <a:bodyPr/>
                    <a:lstStyle/>
                    <a:p>
                      <a:pPr algn="ctr">
                        <a:defRPr sz="950">
                          <a:solidFill>
                            <a:srgbClr val="1E293B"/>
                          </a:solidFill>
                          <a:latin typeface="Calibri"/>
                        </a:defRPr>
                      </a:pPr>
                      <a:r>
                        <a:t>0.2340</a:t>
                      </a:r>
                    </a:p>
                  </a:txBody>
                  <a:tcPr>
                    <a:solidFill>
                      <a:srgbClr val="F1F5F9"/>
                    </a:solidFill>
                  </a:tcPr>
                </a:tc>
                <a:tc>
                  <a:txBody>
                    <a:bodyPr/>
                    <a:lstStyle/>
                    <a:p>
                      <a:pPr algn="ctr">
                        <a:defRPr sz="950">
                          <a:solidFill>
                            <a:srgbClr val="1E293B"/>
                          </a:solidFill>
                          <a:latin typeface="Calibri"/>
                        </a:defRPr>
                      </a:pPr>
                      <a:r>
                        <a:t>13 / 150</a:t>
                      </a:r>
                    </a:p>
                  </a:txBody>
                  <a:tcPr>
                    <a:solidFill>
                      <a:srgbClr val="F1F5F9"/>
                    </a:solidFill>
                  </a:tcPr>
                </a:tc>
              </a:tr>
              <a:tr h="457200">
                <a:tc>
                  <a:txBody>
                    <a:bodyPr/>
                    <a:lstStyle/>
                    <a:p>
                      <a:pPr>
                        <a:defRPr sz="950" b="1">
                          <a:solidFill>
                            <a:srgbClr val="1E293B"/>
                          </a:solidFill>
                          <a:latin typeface="Calibri"/>
                        </a:defRPr>
                      </a:pPr>
                      <a:r>
                        <a:t>Breast Cancer (Clinical)</a:t>
                      </a:r>
                    </a:p>
                  </a:txBody>
                  <a:tcPr>
                    <a:solidFill>
                      <a:srgbClr val="FFFFFF"/>
                    </a:solidFill>
                  </a:tcPr>
                </a:tc>
                <a:tc>
                  <a:txBody>
                    <a:bodyPr/>
                    <a:lstStyle/>
                    <a:p>
                      <a:pPr algn="ctr">
                        <a:defRPr sz="950">
                          <a:solidFill>
                            <a:srgbClr val="1E293B"/>
                          </a:solidFill>
                          <a:latin typeface="Calibri"/>
                        </a:defRPr>
                      </a:pPr>
                      <a:r>
                        <a:t>0.2983</a:t>
                      </a:r>
                    </a:p>
                  </a:txBody>
                  <a:tcPr>
                    <a:solidFill>
                      <a:srgbClr val="FFFFFF"/>
                    </a:solidFill>
                  </a:tcPr>
                </a:tc>
                <a:tc>
                  <a:txBody>
                    <a:bodyPr/>
                    <a:lstStyle/>
                    <a:p>
                      <a:pPr algn="ctr">
                        <a:defRPr sz="950">
                          <a:solidFill>
                            <a:srgbClr val="1E293B"/>
                          </a:solidFill>
                          <a:latin typeface="Calibri"/>
                        </a:defRPr>
                      </a:pPr>
                      <a:r>
                        <a:t>0.1526</a:t>
                      </a:r>
                    </a:p>
                  </a:txBody>
                  <a:tcPr>
                    <a:solidFill>
                      <a:srgbClr val="FFFFFF"/>
                    </a:solidFill>
                  </a:tcPr>
                </a:tc>
                <a:tc>
                  <a:txBody>
                    <a:bodyPr/>
                    <a:lstStyle/>
                    <a:p>
                      <a:pPr algn="ctr">
                        <a:defRPr sz="950">
                          <a:solidFill>
                            <a:srgbClr val="1E293B"/>
                          </a:solidFill>
                          <a:latin typeface="Calibri"/>
                        </a:defRPr>
                      </a:pPr>
                      <a:r>
                        <a:t>13 / 150</a:t>
                      </a:r>
                    </a:p>
                  </a:txBody>
                  <a:tcPr>
                    <a:solidFill>
                      <a:srgbClr val="FFFFFF"/>
                    </a:solidFill>
                  </a:tcPr>
                </a:tc>
              </a:tr>
            </a:tbl>
          </a:graphicData>
        </a:graphic>
      </p:graphicFrame>
      <p:sp>
        <p:nvSpPr>
          <p:cNvPr id="9" name="TextBox 8"/>
          <p:cNvSpPr txBox="1"/>
          <p:nvPr/>
        </p:nvSpPr>
        <p:spPr>
          <a:xfrm>
            <a:off x="6492240" y="4023360"/>
            <a:ext cx="4754880" cy="2011680"/>
          </a:xfrm>
          <a:prstGeom prst="rect">
            <a:avLst/>
          </a:prstGeom>
          <a:noFill/>
        </p:spPr>
        <p:txBody>
          <a:bodyPr wrap="square">
            <a:spAutoFit/>
          </a:bodyPr>
          <a:lstStyle/>
          <a:p>
            <a:pPr>
              <a:spcAft>
                <a:spcPts val="800"/>
              </a:spcAft>
            </a:pPr>
            <a:r>
              <a:rPr b="1" sz="1000">
                <a:solidFill>
                  <a:srgbClr val="1E293B"/>
                </a:solidFill>
                <a:latin typeface="Calibri"/>
              </a:rPr>
              <a:t>Eliminating Domain Artifacts: </a:t>
            </a:r>
            <a:r>
              <a:rPr sz="1000">
                <a:solidFill>
                  <a:srgbClr val="475569"/>
                </a:solidFill>
                <a:latin typeface="Calibri"/>
              </a:rPr>
              <a:t>To eliminate the critique that divergence is an idiosyncrasy of wine chemical features, we added the Wisconsin Breast Cancer diagnostic benchmark (30 features, clinical cell nuclei measurements).</a:t>
            </a:r>
          </a:p>
          <a:p>
            <a:pPr>
              <a:spcAft>
                <a:spcPts val="800"/>
              </a:spcAft>
            </a:pPr>
            <a:r>
              <a:rPr b="1" sz="1000">
                <a:solidFill>
                  <a:srgbClr val="1E293B"/>
                </a:solidFill>
                <a:latin typeface="Calibri"/>
              </a:rPr>
              <a:t>Persistent Divergence: </a:t>
            </a:r>
            <a:r>
              <a:rPr sz="1000">
                <a:solidFill>
                  <a:srgbClr val="475569"/>
                </a:solidFill>
                <a:latin typeface="Calibri"/>
              </a:rPr>
              <a:t>Across all three real-world domains, CKA remains consistently in [0.248, 0.401] (divergence D in [0.60, 0.75]), and neighborhood overlap remains under 24%.</a:t>
            </a:r>
          </a:p>
          <a:p>
            <a:pPr>
              <a:spcAft>
                <a:spcPts val="800"/>
              </a:spcAft>
            </a:pPr>
            <a:r>
              <a:rPr b="1" sz="1000">
                <a:solidFill>
                  <a:srgbClr val="1E293B"/>
                </a:solidFill>
                <a:latin typeface="Calibri"/>
              </a:rPr>
              <a:t>Candidate Parity: </a:t>
            </a:r>
            <a:r>
              <a:rPr sz="1000">
                <a:solidFill>
                  <a:srgbClr val="475569"/>
                </a:solidFill>
                <a:latin typeface="Calibri"/>
              </a:rPr>
              <a:t>At the 90th percentile threshold, the framework consistently surfaces exactly 13 quantum-specific candidates across all three distinct feature domains.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TOPOLOGICAL CALIBRATION</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Synthetic Manifolds: Explaining When Quantum Geometry Excels</a:t>
            </a:r>
          </a:p>
          <a:p>
            <a:pPr>
              <a:defRPr sz="1200">
                <a:solidFill>
                  <a:srgbClr val="475569"/>
                </a:solidFill>
                <a:latin typeface="Calibri"/>
              </a:defRPr>
            </a:pPr>
            <a:r>
              <a:t>Calibrating performance on Gaussian clusters, Two Moons, and Concentric Circles with injected anomalies.</a:t>
            </a:r>
          </a:p>
        </p:txBody>
      </p:sp>
      <p:sp>
        <p:nvSpPr>
          <p:cNvPr id="5" name="Rounded Rectangle 4"/>
          <p:cNvSpPr/>
          <p:nvPr/>
        </p:nvSpPr>
        <p:spPr>
          <a:xfrm>
            <a:off x="731520" y="1463040"/>
            <a:ext cx="1069848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10332720" cy="320040"/>
          </a:xfrm>
          <a:prstGeom prst="rect">
            <a:avLst/>
          </a:prstGeom>
          <a:noFill/>
        </p:spPr>
        <p:txBody>
          <a:bodyPr wrap="square" lIns="0" rIns="0" tIns="0" bIns="0">
            <a:spAutoFit/>
          </a:bodyPr>
          <a:lstStyle/>
          <a:p>
            <a:pPr>
              <a:defRPr sz="1300" b="1">
                <a:solidFill>
                  <a:srgbClr val="1E293B"/>
                </a:solidFill>
                <a:latin typeface="Calibri"/>
              </a:defRPr>
            </a:pPr>
            <a:r>
              <a:t>Synthetic Benchmark Results (Injected Uniform Anomalies, N=130)</a:t>
            </a:r>
          </a:p>
        </p:txBody>
      </p:sp>
      <p:graphicFrame>
        <p:nvGraphicFramePr>
          <p:cNvPr id="7" name="Table 6"/>
          <p:cNvGraphicFramePr>
            <a:graphicFrameLocks noGrp="1"/>
          </p:cNvGraphicFramePr>
          <p:nvPr/>
        </p:nvGraphicFramePr>
        <p:xfrm>
          <a:off x="1005840" y="1920240"/>
          <a:ext cx="10149840" cy="1737360"/>
        </p:xfrm>
        <a:graphic>
          <a:graphicData uri="http://schemas.openxmlformats.org/drawingml/2006/table">
            <a:tbl>
              <a:tblPr firstRow="1" bandRow="1">
                <a:tableStyleId>{5C22544A-7EE6-4342-B048-85BDC9FD1C3A}</a:tableStyleId>
              </a:tblPr>
              <a:tblGrid>
                <a:gridCol w="2286000"/>
                <a:gridCol w="1554480"/>
                <a:gridCol w="1463040"/>
                <a:gridCol w="1554480"/>
                <a:gridCol w="1645920"/>
                <a:gridCol w="1645920"/>
              </a:tblGrid>
              <a:tr h="434340">
                <a:tc>
                  <a:txBody>
                    <a:bodyPr/>
                    <a:lstStyle/>
                    <a:p>
                      <a:pPr algn="ctr">
                        <a:defRPr sz="1000" b="1">
                          <a:solidFill>
                            <a:srgbClr val="FFFFFF"/>
                          </a:solidFill>
                          <a:latin typeface="Calibri"/>
                        </a:defRPr>
                      </a:pPr>
                      <a:r>
                        <a:t>Synthetic Dataset</a:t>
                      </a:r>
                    </a:p>
                  </a:txBody>
                  <a:tcPr>
                    <a:solidFill>
                      <a:srgbClr val="1E293B"/>
                    </a:solidFill>
                  </a:tcPr>
                </a:tc>
                <a:tc>
                  <a:txBody>
                    <a:bodyPr/>
                    <a:lstStyle/>
                    <a:p>
                      <a:pPr algn="ctr">
                        <a:defRPr sz="1000" b="1">
                          <a:solidFill>
                            <a:srgbClr val="FFFFFF"/>
                          </a:solidFill>
                          <a:latin typeface="Calibri"/>
                        </a:defRPr>
                      </a:pPr>
                      <a:r>
                        <a:t>Manifold Topology</a:t>
                      </a:r>
                    </a:p>
                  </a:txBody>
                  <a:tcPr>
                    <a:solidFill>
                      <a:srgbClr val="1E293B"/>
                    </a:solidFill>
                  </a:tcPr>
                </a:tc>
                <a:tc>
                  <a:txBody>
                    <a:bodyPr/>
                    <a:lstStyle/>
                    <a:p>
                      <a:pPr algn="ctr">
                        <a:defRPr sz="1000" b="1">
                          <a:solidFill>
                            <a:srgbClr val="FFFFFF"/>
                          </a:solidFill>
                          <a:latin typeface="Calibri"/>
                        </a:defRPr>
                      </a:pPr>
                      <a:r>
                        <a:t>CKA vs RBF</a:t>
                      </a:r>
                    </a:p>
                  </a:txBody>
                  <a:tcPr>
                    <a:solidFill>
                      <a:srgbClr val="1E293B"/>
                    </a:solidFill>
                  </a:tcPr>
                </a:tc>
                <a:tc>
                  <a:txBody>
                    <a:bodyPr/>
                    <a:lstStyle/>
                    <a:p>
                      <a:pPr algn="ctr">
                        <a:defRPr sz="1000" b="1">
                          <a:solidFill>
                            <a:srgbClr val="FFFFFF"/>
                          </a:solidFill>
                          <a:latin typeface="Calibri"/>
                        </a:defRPr>
                      </a:pPr>
                      <a:r>
                        <a:t>Classical CAS P@10</a:t>
                      </a:r>
                    </a:p>
                  </a:txBody>
                  <a:tcPr>
                    <a:solidFill>
                      <a:srgbClr val="1E293B"/>
                    </a:solidFill>
                  </a:tcPr>
                </a:tc>
                <a:tc>
                  <a:txBody>
                    <a:bodyPr/>
                    <a:lstStyle/>
                    <a:p>
                      <a:pPr algn="ctr">
                        <a:defRPr sz="1000" b="1">
                          <a:solidFill>
                            <a:srgbClr val="FFFFFF"/>
                          </a:solidFill>
                          <a:latin typeface="Calibri"/>
                        </a:defRPr>
                      </a:pPr>
                      <a:r>
                        <a:t>Rep. Disagreement P@10</a:t>
                      </a:r>
                    </a:p>
                  </a:txBody>
                  <a:tcPr>
                    <a:solidFill>
                      <a:srgbClr val="1E293B"/>
                    </a:solidFill>
                  </a:tcPr>
                </a:tc>
                <a:tc>
                  <a:txBody>
                    <a:bodyPr/>
                    <a:lstStyle/>
                    <a:p>
                      <a:pPr algn="ctr">
                        <a:defRPr sz="1000" b="1">
                          <a:solidFill>
                            <a:srgbClr val="FFFFFF"/>
                          </a:solidFill>
                          <a:latin typeface="Calibri"/>
                        </a:defRPr>
                      </a:pPr>
                      <a:r>
                        <a:t>Composite QI_v2 P@10</a:t>
                      </a:r>
                    </a:p>
                  </a:txBody>
                  <a:tcPr>
                    <a:solidFill>
                      <a:srgbClr val="1E293B"/>
                    </a:solidFill>
                  </a:tcPr>
                </a:tc>
              </a:tr>
              <a:tr h="434340">
                <a:tc>
                  <a:txBody>
                    <a:bodyPr/>
                    <a:lstStyle/>
                    <a:p>
                      <a:pPr>
                        <a:defRPr sz="1000" b="1">
                          <a:solidFill>
                            <a:srgbClr val="1E293B"/>
                          </a:solidFill>
                          <a:latin typeface="Calibri"/>
                        </a:defRPr>
                      </a:pPr>
                      <a:r>
                        <a:t>Gaussian Clusters</a:t>
                      </a:r>
                    </a:p>
                  </a:txBody>
                  <a:tcPr>
                    <a:solidFill>
                      <a:srgbClr val="FFFFFF"/>
                    </a:solidFill>
                  </a:tcPr>
                </a:tc>
                <a:tc>
                  <a:txBody>
                    <a:bodyPr/>
                    <a:lstStyle/>
                    <a:p>
                      <a:pPr algn="ctr">
                        <a:defRPr sz="1000">
                          <a:solidFill>
                            <a:srgbClr val="1E293B"/>
                          </a:solidFill>
                          <a:latin typeface="Calibri"/>
                        </a:defRPr>
                      </a:pPr>
                      <a:r>
                        <a:t>Linearly separable blobs</a:t>
                      </a:r>
                    </a:p>
                  </a:txBody>
                  <a:tcPr>
                    <a:solidFill>
                      <a:srgbClr val="FFFFFF"/>
                    </a:solidFill>
                  </a:tcPr>
                </a:tc>
                <a:tc>
                  <a:txBody>
                    <a:bodyPr/>
                    <a:lstStyle/>
                    <a:p>
                      <a:pPr algn="ctr">
                        <a:defRPr sz="1000">
                          <a:solidFill>
                            <a:srgbClr val="1E293B"/>
                          </a:solidFill>
                          <a:latin typeface="Calibri"/>
                        </a:defRPr>
                      </a:pPr>
                      <a:r>
                        <a:t>0.8443</a:t>
                      </a:r>
                    </a:p>
                  </a:txBody>
                  <a:tcPr>
                    <a:solidFill>
                      <a:srgbClr val="FFFFFF"/>
                    </a:solidFill>
                  </a:tcPr>
                </a:tc>
                <a:tc>
                  <a:txBody>
                    <a:bodyPr/>
                    <a:lstStyle/>
                    <a:p>
                      <a:pPr algn="ctr">
                        <a:defRPr sz="1000">
                          <a:solidFill>
                            <a:srgbClr val="1E293B"/>
                          </a:solidFill>
                          <a:latin typeface="Calibri"/>
                        </a:defRPr>
                      </a:pPr>
                      <a:r>
                        <a:t>1.00</a:t>
                      </a:r>
                    </a:p>
                  </a:txBody>
                  <a:tcPr>
                    <a:solidFill>
                      <a:srgbClr val="FFFFFF"/>
                    </a:solidFill>
                  </a:tcPr>
                </a:tc>
                <a:tc>
                  <a:txBody>
                    <a:bodyPr/>
                    <a:lstStyle/>
                    <a:p>
                      <a:pPr algn="ctr">
                        <a:defRPr sz="1000">
                          <a:solidFill>
                            <a:srgbClr val="1E293B"/>
                          </a:solidFill>
                          <a:latin typeface="Calibri"/>
                        </a:defRPr>
                      </a:pPr>
                      <a:r>
                        <a:t>0.20</a:t>
                      </a:r>
                    </a:p>
                  </a:txBody>
                  <a:tcPr>
                    <a:solidFill>
                      <a:srgbClr val="FFFFFF"/>
                    </a:solidFill>
                  </a:tcPr>
                </a:tc>
                <a:tc>
                  <a:txBody>
                    <a:bodyPr/>
                    <a:lstStyle/>
                    <a:p>
                      <a:pPr algn="ctr">
                        <a:defRPr sz="1000">
                          <a:solidFill>
                            <a:srgbClr val="1E293B"/>
                          </a:solidFill>
                          <a:latin typeface="Calibri"/>
                        </a:defRPr>
                      </a:pPr>
                      <a:r>
                        <a:t>0.90</a:t>
                      </a:r>
                    </a:p>
                  </a:txBody>
                  <a:tcPr>
                    <a:solidFill>
                      <a:srgbClr val="FFFFFF"/>
                    </a:solidFill>
                  </a:tcPr>
                </a:tc>
              </a:tr>
              <a:tr h="434340">
                <a:tc>
                  <a:txBody>
                    <a:bodyPr/>
                    <a:lstStyle/>
                    <a:p>
                      <a:pPr>
                        <a:defRPr sz="1000" b="1">
                          <a:solidFill>
                            <a:srgbClr val="1E293B"/>
                          </a:solidFill>
                          <a:latin typeface="Calibri"/>
                        </a:defRPr>
                      </a:pPr>
                      <a:r>
                        <a:t>Two Moons</a:t>
                      </a:r>
                    </a:p>
                  </a:txBody>
                  <a:tcPr>
                    <a:solidFill>
                      <a:srgbClr val="F1F5F9"/>
                    </a:solidFill>
                  </a:tcPr>
                </a:tc>
                <a:tc>
                  <a:txBody>
                    <a:bodyPr/>
                    <a:lstStyle/>
                    <a:p>
                      <a:pPr algn="ctr">
                        <a:defRPr sz="1000">
                          <a:solidFill>
                            <a:srgbClr val="1E293B"/>
                          </a:solidFill>
                          <a:latin typeface="Calibri"/>
                        </a:defRPr>
                      </a:pPr>
                      <a:r>
                        <a:t>Intertwined non-linear arcs</a:t>
                      </a:r>
                    </a:p>
                  </a:txBody>
                  <a:tcPr>
                    <a:solidFill>
                      <a:srgbClr val="F1F5F9"/>
                    </a:solidFill>
                  </a:tcPr>
                </a:tc>
                <a:tc>
                  <a:txBody>
                    <a:bodyPr/>
                    <a:lstStyle/>
                    <a:p>
                      <a:pPr algn="ctr">
                        <a:defRPr sz="1000">
                          <a:solidFill>
                            <a:srgbClr val="1E293B"/>
                          </a:solidFill>
                          <a:latin typeface="Calibri"/>
                        </a:defRPr>
                      </a:pPr>
                      <a:r>
                        <a:t>0.4556</a:t>
                      </a:r>
                    </a:p>
                  </a:txBody>
                  <a:tcPr>
                    <a:solidFill>
                      <a:srgbClr val="F1F5F9"/>
                    </a:solidFill>
                  </a:tcPr>
                </a:tc>
                <a:tc>
                  <a:txBody>
                    <a:bodyPr/>
                    <a:lstStyle/>
                    <a:p>
                      <a:pPr algn="ctr">
                        <a:defRPr sz="1000">
                          <a:solidFill>
                            <a:srgbClr val="1E293B"/>
                          </a:solidFill>
                          <a:latin typeface="Calibri"/>
                        </a:defRPr>
                      </a:pPr>
                      <a:r>
                        <a:t>0.70</a:t>
                      </a:r>
                    </a:p>
                  </a:txBody>
                  <a:tcPr>
                    <a:solidFill>
                      <a:srgbClr val="F1F5F9"/>
                    </a:solidFill>
                  </a:tcPr>
                </a:tc>
                <a:tc>
                  <a:txBody>
                    <a:bodyPr/>
                    <a:lstStyle/>
                    <a:p>
                      <a:pPr algn="ctr">
                        <a:defRPr sz="1000">
                          <a:solidFill>
                            <a:srgbClr val="1E293B"/>
                          </a:solidFill>
                          <a:latin typeface="Calibri"/>
                        </a:defRPr>
                      </a:pPr>
                      <a:r>
                        <a:t>0.70</a:t>
                      </a:r>
                    </a:p>
                  </a:txBody>
                  <a:tcPr>
                    <a:solidFill>
                      <a:srgbClr val="F1F5F9"/>
                    </a:solidFill>
                  </a:tcPr>
                </a:tc>
                <a:tc>
                  <a:txBody>
                    <a:bodyPr/>
                    <a:lstStyle/>
                    <a:p>
                      <a:pPr algn="ctr">
                        <a:defRPr sz="1000">
                          <a:solidFill>
                            <a:srgbClr val="1E293B"/>
                          </a:solidFill>
                          <a:latin typeface="Calibri"/>
                        </a:defRPr>
                      </a:pPr>
                      <a:r>
                        <a:t>0.60</a:t>
                      </a:r>
                    </a:p>
                  </a:txBody>
                  <a:tcPr>
                    <a:solidFill>
                      <a:srgbClr val="F1F5F9"/>
                    </a:solidFill>
                  </a:tcPr>
                </a:tc>
              </a:tr>
              <a:tr h="434340">
                <a:tc>
                  <a:txBody>
                    <a:bodyPr/>
                    <a:lstStyle/>
                    <a:p>
                      <a:pPr>
                        <a:defRPr sz="1000" b="1">
                          <a:solidFill>
                            <a:srgbClr val="1E293B"/>
                          </a:solidFill>
                          <a:latin typeface="Calibri"/>
                        </a:defRPr>
                      </a:pPr>
                      <a:r>
                        <a:t>Concentric Circles</a:t>
                      </a:r>
                    </a:p>
                  </a:txBody>
                  <a:tcPr>
                    <a:solidFill>
                      <a:srgbClr val="FFFFFF"/>
                    </a:solidFill>
                  </a:tcPr>
                </a:tc>
                <a:tc>
                  <a:txBody>
                    <a:bodyPr/>
                    <a:lstStyle/>
                    <a:p>
                      <a:pPr algn="ctr">
                        <a:defRPr sz="1000">
                          <a:solidFill>
                            <a:srgbClr val="1E293B"/>
                          </a:solidFill>
                          <a:latin typeface="Calibri"/>
                        </a:defRPr>
                      </a:pPr>
                      <a:r>
                        <a:t>Nested radial manifolds</a:t>
                      </a:r>
                    </a:p>
                  </a:txBody>
                  <a:tcPr>
                    <a:solidFill>
                      <a:srgbClr val="FFFFFF"/>
                    </a:solidFill>
                  </a:tcPr>
                </a:tc>
                <a:tc>
                  <a:txBody>
                    <a:bodyPr/>
                    <a:lstStyle/>
                    <a:p>
                      <a:pPr algn="ctr">
                        <a:defRPr sz="1000">
                          <a:solidFill>
                            <a:srgbClr val="1E293B"/>
                          </a:solidFill>
                          <a:latin typeface="Calibri"/>
                        </a:defRPr>
                      </a:pPr>
                      <a:r>
                        <a:t>0.3958</a:t>
                      </a:r>
                    </a:p>
                  </a:txBody>
                  <a:tcPr>
                    <a:solidFill>
                      <a:srgbClr val="FFFFFF"/>
                    </a:solidFill>
                  </a:tcPr>
                </a:tc>
                <a:tc>
                  <a:txBody>
                    <a:bodyPr/>
                    <a:lstStyle/>
                    <a:p>
                      <a:pPr algn="ctr">
                        <a:defRPr sz="1000">
                          <a:solidFill>
                            <a:srgbClr val="1E293B"/>
                          </a:solidFill>
                          <a:latin typeface="Calibri"/>
                        </a:defRPr>
                      </a:pPr>
                      <a:r>
                        <a:t>0.80</a:t>
                      </a:r>
                    </a:p>
                  </a:txBody>
                  <a:tcPr>
                    <a:solidFill>
                      <a:srgbClr val="FFFFFF"/>
                    </a:solidFill>
                  </a:tcPr>
                </a:tc>
                <a:tc>
                  <a:txBody>
                    <a:bodyPr/>
                    <a:lstStyle/>
                    <a:p>
                      <a:pPr algn="ctr">
                        <a:defRPr sz="1000">
                          <a:solidFill>
                            <a:srgbClr val="1E293B"/>
                          </a:solidFill>
                          <a:latin typeface="Calibri"/>
                        </a:defRPr>
                      </a:pPr>
                      <a:r>
                        <a:t>0.60</a:t>
                      </a:r>
                    </a:p>
                  </a:txBody>
                  <a:tcPr>
                    <a:solidFill>
                      <a:srgbClr val="FFFFFF"/>
                    </a:solidFill>
                  </a:tcPr>
                </a:tc>
                <a:tc>
                  <a:txBody>
                    <a:bodyPr/>
                    <a:lstStyle/>
                    <a:p>
                      <a:pPr algn="ctr">
                        <a:defRPr sz="1000">
                          <a:solidFill>
                            <a:srgbClr val="1E293B"/>
                          </a:solidFill>
                          <a:latin typeface="Calibri"/>
                        </a:defRPr>
                      </a:pPr>
                      <a:r>
                        <a:t>0.70</a:t>
                      </a:r>
                    </a:p>
                  </a:txBody>
                  <a:tcPr>
                    <a:solidFill>
                      <a:srgbClr val="FFFFFF"/>
                    </a:solidFill>
                  </a:tcPr>
                </a:tc>
              </a:tr>
            </a:tbl>
          </a:graphicData>
        </a:graphic>
      </p:graphicFrame>
      <p:sp>
        <p:nvSpPr>
          <p:cNvPr id="8" name="Rounded Rectangle 7"/>
          <p:cNvSpPr/>
          <p:nvPr/>
        </p:nvSpPr>
        <p:spPr>
          <a:xfrm>
            <a:off x="731520" y="41148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51960"/>
            <a:ext cx="4846320" cy="320040"/>
          </a:xfrm>
          <a:prstGeom prst="rect">
            <a:avLst/>
          </a:prstGeom>
          <a:noFill/>
        </p:spPr>
        <p:txBody>
          <a:bodyPr wrap="square" lIns="0" rIns="0" tIns="0" bIns="0">
            <a:spAutoFit/>
          </a:bodyPr>
          <a:lstStyle/>
          <a:p>
            <a:pPr>
              <a:defRPr sz="1300" b="1">
                <a:solidFill>
                  <a:srgbClr val="1E293B"/>
                </a:solidFill>
                <a:latin typeface="Calibri"/>
              </a:defRPr>
            </a:pPr>
            <a:r>
              <a:t>Where Classical Methods Excel</a:t>
            </a:r>
          </a:p>
        </p:txBody>
      </p:sp>
      <p:sp>
        <p:nvSpPr>
          <p:cNvPr id="10" name="TextBox 9"/>
          <p:cNvSpPr txBox="1"/>
          <p:nvPr/>
        </p:nvSpPr>
        <p:spPr>
          <a:xfrm>
            <a:off x="914400" y="4480560"/>
            <a:ext cx="4846320" cy="1645920"/>
          </a:xfrm>
          <a:prstGeom prst="rect">
            <a:avLst/>
          </a:prstGeom>
          <a:noFill/>
        </p:spPr>
        <p:txBody>
          <a:bodyPr wrap="square">
            <a:spAutoFit/>
          </a:bodyPr>
          <a:lstStyle/>
          <a:p>
            <a:pPr>
              <a:spcAft>
                <a:spcPts val="800"/>
              </a:spcAft>
            </a:pPr>
            <a:r>
              <a:rPr b="1" sz="1000">
                <a:solidFill>
                  <a:srgbClr val="1E293B"/>
                </a:solidFill>
                <a:latin typeface="Calibri"/>
              </a:rPr>
              <a:t>Spatial Euclidean Outliers: </a:t>
            </a:r>
            <a:r>
              <a:rPr sz="1000">
                <a:solidFill>
                  <a:srgbClr val="475569"/>
                </a:solidFill>
                <a:latin typeface="Calibri"/>
              </a:rPr>
              <a:t>For linearly separable clusters with isolated spatial noise, classical Isolation Forest achieves perfect Precision@10 = 1.00.</a:t>
            </a:r>
          </a:p>
          <a:p>
            <a:pPr>
              <a:spcAft>
                <a:spcPts val="800"/>
              </a:spcAft>
            </a:pPr>
            <a:r>
              <a:rPr b="1" sz="1000">
                <a:solidFill>
                  <a:srgbClr val="1E293B"/>
                </a:solidFill>
                <a:latin typeface="Calibri"/>
              </a:rPr>
              <a:t>Honest Baseline: </a:t>
            </a:r>
            <a:r>
              <a:rPr sz="1000">
                <a:solidFill>
                  <a:srgbClr val="475569"/>
                </a:solidFill>
                <a:latin typeface="Calibri"/>
              </a:rPr>
              <a:t>Quantum methods are not superior for simple Euclidean outliers; classical density estimators remain simpler, faster, and optimal.</a:t>
            </a:r>
          </a:p>
        </p:txBody>
      </p:sp>
      <p:sp>
        <p:nvSpPr>
          <p:cNvPr id="11" name="Rounded Rectangle 10"/>
          <p:cNvSpPr/>
          <p:nvPr/>
        </p:nvSpPr>
        <p:spPr>
          <a:xfrm>
            <a:off x="6217920" y="4114800"/>
            <a:ext cx="5212080" cy="219456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51960"/>
            <a:ext cx="4846320" cy="320040"/>
          </a:xfrm>
          <a:prstGeom prst="rect">
            <a:avLst/>
          </a:prstGeom>
          <a:noFill/>
        </p:spPr>
        <p:txBody>
          <a:bodyPr wrap="square" lIns="0" rIns="0" tIns="0" bIns="0">
            <a:spAutoFit/>
          </a:bodyPr>
          <a:lstStyle/>
          <a:p>
            <a:pPr>
              <a:defRPr sz="1300" b="1">
                <a:solidFill>
                  <a:srgbClr val="1E293B"/>
                </a:solidFill>
                <a:latin typeface="Calibri"/>
              </a:defRPr>
            </a:pPr>
            <a:r>
              <a:t>Where Quantum Disagreement Excels</a:t>
            </a:r>
          </a:p>
        </p:txBody>
      </p:sp>
      <p:sp>
        <p:nvSpPr>
          <p:cNvPr id="13" name="TextBox 12"/>
          <p:cNvSpPr txBox="1"/>
          <p:nvPr/>
        </p:nvSpPr>
        <p:spPr>
          <a:xfrm>
            <a:off x="6400800" y="4480560"/>
            <a:ext cx="4846320" cy="1645920"/>
          </a:xfrm>
          <a:prstGeom prst="rect">
            <a:avLst/>
          </a:prstGeom>
          <a:noFill/>
        </p:spPr>
        <p:txBody>
          <a:bodyPr wrap="square">
            <a:spAutoFit/>
          </a:bodyPr>
          <a:lstStyle/>
          <a:p>
            <a:pPr>
              <a:spcAft>
                <a:spcPts val="800"/>
              </a:spcAft>
            </a:pPr>
            <a:r>
              <a:rPr b="1" sz="1000">
                <a:solidFill>
                  <a:srgbClr val="1E293B"/>
                </a:solidFill>
                <a:latin typeface="Calibri"/>
              </a:rPr>
              <a:t>Complex Non-Linear Topologies: </a:t>
            </a:r>
            <a:r>
              <a:rPr sz="1000">
                <a:solidFill>
                  <a:srgbClr val="475569"/>
                </a:solidFill>
                <a:latin typeface="Calibri"/>
              </a:rPr>
              <a:t>On nested radial manifolds (Concentric Circles, CKA = 0.3958) and intertwined arcs (Two Moons, CKA = 0.4556), Euclidean distance struggles.</a:t>
            </a:r>
          </a:p>
          <a:p>
            <a:pPr>
              <a:spcAft>
                <a:spcPts val="800"/>
              </a:spcAft>
            </a:pPr>
            <a:r>
              <a:rPr b="1" sz="1000">
                <a:solidFill>
                  <a:srgbClr val="1E293B"/>
                </a:solidFill>
                <a:latin typeface="Calibri"/>
              </a:rPr>
              <a:t>Representation Disagreement (RD): </a:t>
            </a:r>
            <a:r>
              <a:rPr sz="1000">
                <a:solidFill>
                  <a:srgbClr val="475569"/>
                </a:solidFill>
                <a:latin typeface="Calibri"/>
              </a:rPr>
              <a:t>RD activates strongly (P@10 = 0.60-0.70), pulling the composite QI_v2 score toward points that disrupt relational continuity.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HARDWARE FEASIBILITY</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Finite-Shot Sampling &amp; Measurement Noise Robustness</a:t>
            </a:r>
          </a:p>
          <a:p>
            <a:pPr>
              <a:defRPr sz="1200">
                <a:solidFill>
                  <a:srgbClr val="475569"/>
                </a:solidFill>
                <a:latin typeface="Calibri"/>
              </a:defRPr>
            </a:pPr>
            <a:r>
              <a:t>Simulating physical quantum measurement noise across 1024, 4096, and 8192 shots.</a:t>
            </a:r>
          </a:p>
        </p:txBody>
      </p:sp>
      <p:pic>
        <p:nvPicPr>
          <p:cNvPr id="5" name="Picture 4" descr="F9_robustness.png"/>
          <p:cNvPicPr>
            <a:picLocks noChangeAspect="1"/>
          </p:cNvPicPr>
          <p:nvPr/>
        </p:nvPicPr>
        <p:blipFill>
          <a:blip r:embed="rId2"/>
          <a:stretch>
            <a:fillRect/>
          </a:stretch>
        </p:blipFill>
        <p:spPr>
          <a:xfrm>
            <a:off x="731520" y="1463040"/>
            <a:ext cx="5303520" cy="1759107"/>
          </a:xfrm>
          <a:prstGeom prst="rect">
            <a:avLst/>
          </a:prstGeom>
        </p:spPr>
      </p:pic>
      <p:sp>
        <p:nvSpPr>
          <p:cNvPr id="6" name="Rounded Rectangle 5"/>
          <p:cNvSpPr/>
          <p:nvPr/>
        </p:nvSpPr>
        <p:spPr>
          <a:xfrm>
            <a:off x="6309360" y="146304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00200"/>
            <a:ext cx="4754880" cy="320040"/>
          </a:xfrm>
          <a:prstGeom prst="rect">
            <a:avLst/>
          </a:prstGeom>
          <a:noFill/>
        </p:spPr>
        <p:txBody>
          <a:bodyPr wrap="square" lIns="0" rIns="0" tIns="0" bIns="0">
            <a:spAutoFit/>
          </a:bodyPr>
          <a:lstStyle/>
          <a:p>
            <a:pPr>
              <a:defRPr sz="1300" b="1">
                <a:solidFill>
                  <a:srgbClr val="1E293B"/>
                </a:solidFill>
                <a:latin typeface="Calibri"/>
              </a:defRPr>
            </a:pPr>
            <a:r>
              <a:t>Finite Measurement Shot Noise Evaluation</a:t>
            </a:r>
          </a:p>
        </p:txBody>
      </p:sp>
      <p:graphicFrame>
        <p:nvGraphicFramePr>
          <p:cNvPr id="8" name="Table 7"/>
          <p:cNvGraphicFramePr>
            <a:graphicFrameLocks noGrp="1"/>
          </p:cNvGraphicFramePr>
          <p:nvPr/>
        </p:nvGraphicFramePr>
        <p:xfrm>
          <a:off x="6492240" y="2011680"/>
          <a:ext cx="4754880" cy="1828800"/>
        </p:xfrm>
        <a:graphic>
          <a:graphicData uri="http://schemas.openxmlformats.org/drawingml/2006/table">
            <a:tbl>
              <a:tblPr firstRow="1" bandRow="1">
                <a:tableStyleId>{5C22544A-7EE6-4342-B048-85BDC9FD1C3A}</a:tableStyleId>
              </a:tblPr>
              <a:tblGrid>
                <a:gridCol w="1463040"/>
                <a:gridCol w="1097280"/>
                <a:gridCol w="1097280"/>
                <a:gridCol w="1097280"/>
              </a:tblGrid>
              <a:tr h="365760">
                <a:tc>
                  <a:txBody>
                    <a:bodyPr/>
                    <a:lstStyle/>
                    <a:p>
                      <a:pPr algn="ctr">
                        <a:defRPr sz="950" b="1">
                          <a:solidFill>
                            <a:srgbClr val="FFFFFF"/>
                          </a:solidFill>
                          <a:latin typeface="Calibri"/>
                        </a:defRPr>
                      </a:pPr>
                      <a:r>
                        <a:t>Measurement Shots</a:t>
                      </a:r>
                    </a:p>
                  </a:txBody>
                  <a:tcPr>
                    <a:solidFill>
                      <a:srgbClr val="1E293B"/>
                    </a:solidFill>
                  </a:tcPr>
                </a:tc>
                <a:tc>
                  <a:txBody>
                    <a:bodyPr/>
                    <a:lstStyle/>
                    <a:p>
                      <a:pPr algn="ctr">
                        <a:defRPr sz="950" b="1">
                          <a:solidFill>
                            <a:srgbClr val="FFFFFF"/>
                          </a:solidFill>
                          <a:latin typeface="Calibri"/>
                        </a:defRPr>
                      </a:pPr>
                      <a:r>
                        <a:t>CKA vs RBF</a:t>
                      </a:r>
                    </a:p>
                  </a:txBody>
                  <a:tcPr>
                    <a:solidFill>
                      <a:srgbClr val="1E293B"/>
                    </a:solidFill>
                  </a:tcPr>
                </a:tc>
                <a:tc>
                  <a:txBody>
                    <a:bodyPr/>
                    <a:lstStyle/>
                    <a:p>
                      <a:pPr algn="ctr">
                        <a:defRPr sz="950" b="1">
                          <a:solidFill>
                            <a:srgbClr val="FFFFFF"/>
                          </a:solidFill>
                          <a:latin typeface="Calibri"/>
                        </a:defRPr>
                      </a:pPr>
                      <a:r>
                        <a:t>|Δ CKA|</a:t>
                      </a:r>
                    </a:p>
                  </a:txBody>
                  <a:tcPr>
                    <a:solidFill>
                      <a:srgbClr val="1E293B"/>
                    </a:solidFill>
                  </a:tcPr>
                </a:tc>
                <a:tc>
                  <a:txBody>
                    <a:bodyPr/>
                    <a:lstStyle/>
                    <a:p>
                      <a:pPr algn="ctr">
                        <a:defRPr sz="950" b="1">
                          <a:solidFill>
                            <a:srgbClr val="FFFFFF"/>
                          </a:solidFill>
                          <a:latin typeface="Calibri"/>
                        </a:defRPr>
                      </a:pPr>
                      <a:r>
                        <a:t>QAS Rank ρ</a:t>
                      </a:r>
                    </a:p>
                  </a:txBody>
                  <a:tcPr>
                    <a:solidFill>
                      <a:srgbClr val="1E293B"/>
                    </a:solidFill>
                  </a:tcPr>
                </a:tc>
              </a:tr>
              <a:tr h="365760">
                <a:tc>
                  <a:txBody>
                    <a:bodyPr/>
                    <a:lstStyle/>
                    <a:p>
                      <a:pPr>
                        <a:defRPr sz="950" b="1">
                          <a:solidFill>
                            <a:srgbClr val="1E293B"/>
                          </a:solidFill>
                          <a:latin typeface="Calibri"/>
                        </a:defRPr>
                      </a:pPr>
                      <a:r>
                        <a:t>1024 shots</a:t>
                      </a:r>
                    </a:p>
                  </a:txBody>
                  <a:tcPr>
                    <a:solidFill>
                      <a:srgbClr val="FFFFFF"/>
                    </a:solidFill>
                  </a:tcPr>
                </a:tc>
                <a:tc>
                  <a:txBody>
                    <a:bodyPr/>
                    <a:lstStyle/>
                    <a:p>
                      <a:pPr algn="ctr">
                        <a:defRPr sz="950">
                          <a:solidFill>
                            <a:srgbClr val="1E293B"/>
                          </a:solidFill>
                          <a:latin typeface="Calibri"/>
                        </a:defRPr>
                      </a:pPr>
                      <a:r>
                        <a:t>0.2480</a:t>
                      </a:r>
                    </a:p>
                  </a:txBody>
                  <a:tcPr>
                    <a:solidFill>
                      <a:srgbClr val="FFFFFF"/>
                    </a:solidFill>
                  </a:tcPr>
                </a:tc>
                <a:tc>
                  <a:txBody>
                    <a:bodyPr/>
                    <a:lstStyle/>
                    <a:p>
                      <a:pPr algn="ctr">
                        <a:defRPr sz="950">
                          <a:solidFill>
                            <a:srgbClr val="1E293B"/>
                          </a:solidFill>
                          <a:latin typeface="Calibri"/>
                        </a:defRPr>
                      </a:pPr>
                      <a:r>
                        <a:t>0.0004</a:t>
                      </a:r>
                    </a:p>
                  </a:txBody>
                  <a:tcPr>
                    <a:solidFill>
                      <a:srgbClr val="FFFFFF"/>
                    </a:solidFill>
                  </a:tcPr>
                </a:tc>
                <a:tc>
                  <a:txBody>
                    <a:bodyPr/>
                    <a:lstStyle/>
                    <a:p>
                      <a:pPr algn="ctr">
                        <a:defRPr sz="950">
                          <a:solidFill>
                            <a:srgbClr val="1E293B"/>
                          </a:solidFill>
                          <a:latin typeface="Calibri"/>
                        </a:defRPr>
                      </a:pPr>
                      <a:r>
                        <a:t>0.9990</a:t>
                      </a:r>
                    </a:p>
                  </a:txBody>
                  <a:tcPr>
                    <a:solidFill>
                      <a:srgbClr val="FFFFFF"/>
                    </a:solidFill>
                  </a:tcPr>
                </a:tc>
              </a:tr>
              <a:tr h="365760">
                <a:tc>
                  <a:txBody>
                    <a:bodyPr/>
                    <a:lstStyle/>
                    <a:p>
                      <a:pPr>
                        <a:defRPr sz="950" b="1">
                          <a:solidFill>
                            <a:srgbClr val="1E293B"/>
                          </a:solidFill>
                          <a:latin typeface="Calibri"/>
                        </a:defRPr>
                      </a:pPr>
                      <a:r>
                        <a:t>4096 shots</a:t>
                      </a:r>
                    </a:p>
                  </a:txBody>
                  <a:tcPr>
                    <a:solidFill>
                      <a:srgbClr val="F1F5F9"/>
                    </a:solidFill>
                  </a:tcPr>
                </a:tc>
                <a:tc>
                  <a:txBody>
                    <a:bodyPr/>
                    <a:lstStyle/>
                    <a:p>
                      <a:pPr algn="ctr">
                        <a:defRPr sz="950">
                          <a:solidFill>
                            <a:srgbClr val="1E293B"/>
                          </a:solidFill>
                          <a:latin typeface="Calibri"/>
                        </a:defRPr>
                      </a:pPr>
                      <a:r>
                        <a:t>0.2483</a:t>
                      </a:r>
                    </a:p>
                  </a:txBody>
                  <a:tcPr>
                    <a:solidFill>
                      <a:srgbClr val="F1F5F9"/>
                    </a:solidFill>
                  </a:tcPr>
                </a:tc>
                <a:tc>
                  <a:txBody>
                    <a:bodyPr/>
                    <a:lstStyle/>
                    <a:p>
                      <a:pPr algn="ctr">
                        <a:defRPr sz="950">
                          <a:solidFill>
                            <a:srgbClr val="1E293B"/>
                          </a:solidFill>
                          <a:latin typeface="Calibri"/>
                        </a:defRPr>
                      </a:pPr>
                      <a:r>
                        <a:t>0.0001</a:t>
                      </a:r>
                    </a:p>
                  </a:txBody>
                  <a:tcPr>
                    <a:solidFill>
                      <a:srgbClr val="F1F5F9"/>
                    </a:solidFill>
                  </a:tcPr>
                </a:tc>
                <a:tc>
                  <a:txBody>
                    <a:bodyPr/>
                    <a:lstStyle/>
                    <a:p>
                      <a:pPr algn="ctr">
                        <a:defRPr sz="950">
                          <a:solidFill>
                            <a:srgbClr val="1E293B"/>
                          </a:solidFill>
                          <a:latin typeface="Calibri"/>
                        </a:defRPr>
                      </a:pPr>
                      <a:r>
                        <a:t>0.9997</a:t>
                      </a:r>
                    </a:p>
                  </a:txBody>
                  <a:tcPr>
                    <a:solidFill>
                      <a:srgbClr val="F1F5F9"/>
                    </a:solidFill>
                  </a:tcPr>
                </a:tc>
              </a:tr>
              <a:tr h="365760">
                <a:tc>
                  <a:txBody>
                    <a:bodyPr/>
                    <a:lstStyle/>
                    <a:p>
                      <a:pPr>
                        <a:defRPr sz="950" b="1">
                          <a:solidFill>
                            <a:srgbClr val="1E293B"/>
                          </a:solidFill>
                          <a:latin typeface="Calibri"/>
                        </a:defRPr>
                      </a:pPr>
                      <a:r>
                        <a:t>8192 shots</a:t>
                      </a:r>
                    </a:p>
                  </a:txBody>
                  <a:tcPr>
                    <a:solidFill>
                      <a:srgbClr val="FFFFFF"/>
                    </a:solidFill>
                  </a:tcPr>
                </a:tc>
                <a:tc>
                  <a:txBody>
                    <a:bodyPr/>
                    <a:lstStyle/>
                    <a:p>
                      <a:pPr algn="ctr">
                        <a:defRPr sz="950">
                          <a:solidFill>
                            <a:srgbClr val="1E293B"/>
                          </a:solidFill>
                          <a:latin typeface="Calibri"/>
                        </a:defRPr>
                      </a:pPr>
                      <a:r>
                        <a:t>0.2484</a:t>
                      </a:r>
                    </a:p>
                  </a:txBody>
                  <a:tcPr>
                    <a:solidFill>
                      <a:srgbClr val="FFFFFF"/>
                    </a:solidFill>
                  </a:tcPr>
                </a:tc>
                <a:tc>
                  <a:txBody>
                    <a:bodyPr/>
                    <a:lstStyle/>
                    <a:p>
                      <a:pPr algn="ctr">
                        <a:defRPr sz="950">
                          <a:solidFill>
                            <a:srgbClr val="1E293B"/>
                          </a:solidFill>
                          <a:latin typeface="Calibri"/>
                        </a:defRPr>
                      </a:pPr>
                      <a:r>
                        <a:t>0.0000</a:t>
                      </a:r>
                    </a:p>
                  </a:txBody>
                  <a:tcPr>
                    <a:solidFill>
                      <a:srgbClr val="FFFFFF"/>
                    </a:solidFill>
                  </a:tcPr>
                </a:tc>
                <a:tc>
                  <a:txBody>
                    <a:bodyPr/>
                    <a:lstStyle/>
                    <a:p>
                      <a:pPr algn="ctr">
                        <a:defRPr sz="950">
                          <a:solidFill>
                            <a:srgbClr val="1E293B"/>
                          </a:solidFill>
                          <a:latin typeface="Calibri"/>
                        </a:defRPr>
                      </a:pPr>
                      <a:r>
                        <a:t>0.9999</a:t>
                      </a:r>
                    </a:p>
                  </a:txBody>
                  <a:tcPr>
                    <a:solidFill>
                      <a:srgbClr val="FFFFFF"/>
                    </a:solidFill>
                  </a:tcPr>
                </a:tc>
              </a:tr>
              <a:tr h="365760">
                <a:tc>
                  <a:txBody>
                    <a:bodyPr/>
                    <a:lstStyle/>
                    <a:p>
                      <a:pPr>
                        <a:defRPr sz="950" b="1">
                          <a:solidFill>
                            <a:srgbClr val="1E293B"/>
                          </a:solidFill>
                          <a:latin typeface="Calibri"/>
                        </a:defRPr>
                      </a:pPr>
                      <a:r>
                        <a:t>Ideal Statevector (∞)</a:t>
                      </a:r>
                    </a:p>
                  </a:txBody>
                  <a:tcPr>
                    <a:solidFill>
                      <a:srgbClr val="F1F5F9"/>
                    </a:solidFill>
                  </a:tcPr>
                </a:tc>
                <a:tc>
                  <a:txBody>
                    <a:bodyPr/>
                    <a:lstStyle/>
                    <a:p>
                      <a:pPr algn="ctr">
                        <a:defRPr sz="950">
                          <a:solidFill>
                            <a:srgbClr val="1E293B"/>
                          </a:solidFill>
                          <a:latin typeface="Calibri"/>
                        </a:defRPr>
                      </a:pPr>
                      <a:r>
                        <a:t>0.2484</a:t>
                      </a:r>
                    </a:p>
                  </a:txBody>
                  <a:tcPr>
                    <a:solidFill>
                      <a:srgbClr val="F1F5F9"/>
                    </a:solidFill>
                  </a:tcPr>
                </a:tc>
                <a:tc>
                  <a:txBody>
                    <a:bodyPr/>
                    <a:lstStyle/>
                    <a:p>
                      <a:pPr algn="ctr">
                        <a:defRPr sz="950">
                          <a:solidFill>
                            <a:srgbClr val="1E293B"/>
                          </a:solidFill>
                          <a:latin typeface="Calibri"/>
                        </a:defRPr>
                      </a:pPr>
                      <a:r>
                        <a:t>0.0000</a:t>
                      </a:r>
                    </a:p>
                  </a:txBody>
                  <a:tcPr>
                    <a:solidFill>
                      <a:srgbClr val="F1F5F9"/>
                    </a:solidFill>
                  </a:tcPr>
                </a:tc>
                <a:tc>
                  <a:txBody>
                    <a:bodyPr/>
                    <a:lstStyle/>
                    <a:p>
                      <a:pPr algn="ctr">
                        <a:defRPr sz="950">
                          <a:solidFill>
                            <a:srgbClr val="1E293B"/>
                          </a:solidFill>
                          <a:latin typeface="Calibri"/>
                        </a:defRPr>
                      </a:pPr>
                      <a:r>
                        <a:t>1.0000</a:t>
                      </a:r>
                    </a:p>
                  </a:txBody>
                  <a:tcPr>
                    <a:solidFill>
                      <a:srgbClr val="F1F5F9"/>
                    </a:solidFill>
                  </a:tcPr>
                </a:tc>
              </a:tr>
            </a:tbl>
          </a:graphicData>
        </a:graphic>
      </p:graphicFrame>
      <p:sp>
        <p:nvSpPr>
          <p:cNvPr id="9" name="TextBox 8"/>
          <p:cNvSpPr txBox="1"/>
          <p:nvPr/>
        </p:nvSpPr>
        <p:spPr>
          <a:xfrm>
            <a:off x="6492240" y="4023360"/>
            <a:ext cx="4754880" cy="2011680"/>
          </a:xfrm>
          <a:prstGeom prst="rect">
            <a:avLst/>
          </a:prstGeom>
          <a:noFill/>
        </p:spPr>
        <p:txBody>
          <a:bodyPr wrap="square">
            <a:spAutoFit/>
          </a:bodyPr>
          <a:lstStyle/>
          <a:p>
            <a:pPr>
              <a:spcAft>
                <a:spcPts val="800"/>
              </a:spcAft>
            </a:pPr>
            <a:r>
              <a:rPr b="1" sz="1000">
                <a:solidFill>
                  <a:srgbClr val="1E293B"/>
                </a:solidFill>
                <a:latin typeface="Calibri"/>
              </a:rPr>
              <a:t>Extreme Numerical Stability: </a:t>
            </a:r>
            <a:r>
              <a:rPr sz="1000">
                <a:solidFill>
                  <a:srgbClr val="475569"/>
                </a:solidFill>
                <a:latin typeface="Calibri"/>
              </a:rPr>
              <a:t>With as few as 1024 shots, CKA shifts by only 0.0004, and QAS anomaly rankings correlate at rho = 0.9990 with the ideal statevector simulation.</a:t>
            </a:r>
          </a:p>
          <a:p>
            <a:pPr>
              <a:spcAft>
                <a:spcPts val="800"/>
              </a:spcAft>
            </a:pPr>
            <a:r>
              <a:rPr b="1" sz="1000">
                <a:solidFill>
                  <a:srgbClr val="1E293B"/>
                </a:solidFill>
                <a:latin typeface="Calibri"/>
              </a:rPr>
              <a:t>Entanglement Ablation: </a:t>
            </a:r>
            <a:r>
              <a:rPr sz="1000">
                <a:solidFill>
                  <a:srgbClr val="475569"/>
                </a:solidFill>
                <a:latin typeface="Calibri"/>
              </a:rPr>
              <a:t>Replacing ZZFeatureMap (entangling) with ZFeatureMap (separable single-qubit rotations) increases CKA by +0.3913 (0.2484 -&gt; 0.6397). Multi-qubit entanglement is the primary driver of geometric divergence.</a:t>
            </a:r>
          </a:p>
          <a:p>
            <a:pPr>
              <a:spcAft>
                <a:spcPts val="800"/>
              </a:spcAft>
            </a:pPr>
            <a:r>
              <a:rPr b="1" sz="1000">
                <a:solidFill>
                  <a:srgbClr val="1E293B"/>
                </a:solidFill>
                <a:latin typeface="Calibri"/>
              </a:rPr>
              <a:t>Circuit Depth Robustness: </a:t>
            </a:r>
            <a:r>
              <a:rPr sz="1000">
                <a:solidFill>
                  <a:srgbClr val="475569"/>
                </a:solidFill>
                <a:latin typeface="Calibri"/>
              </a:rPr>
              <a:t>Scaling repetitions r from 1 to 3 monotonically deepens divergence (0.285 -&gt; 0.221) without state concentration collapse.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SOFTWARE &amp; TOOLING</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Interactive Streamlit Exploration Dashboard</a:t>
            </a:r>
          </a:p>
          <a:p>
            <a:pPr>
              <a:defRPr sz="1200">
                <a:solidFill>
                  <a:srgbClr val="475569"/>
                </a:solidFill>
                <a:latin typeface="Calibri"/>
              </a:defRPr>
            </a:pPr>
            <a:r>
              <a:t>Translating abstract Hilbert space mathematics into actionable visual exploration tools.</a:t>
            </a:r>
          </a:p>
        </p:txBody>
      </p:sp>
      <p:sp>
        <p:nvSpPr>
          <p:cNvPr id="5" name="Rounded Rectangle 4"/>
          <p:cNvSpPr/>
          <p:nvPr/>
        </p:nvSpPr>
        <p:spPr>
          <a:xfrm>
            <a:off x="731520" y="146304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20040"/>
          </a:xfrm>
          <a:prstGeom prst="rect">
            <a:avLst/>
          </a:prstGeom>
          <a:noFill/>
        </p:spPr>
        <p:txBody>
          <a:bodyPr wrap="square" lIns="0" rIns="0" tIns="0" bIns="0">
            <a:spAutoFit/>
          </a:bodyPr>
          <a:lstStyle/>
          <a:p>
            <a:pPr>
              <a:defRPr sz="1300" b="1">
                <a:solidFill>
                  <a:srgbClr val="1E293B"/>
                </a:solidFill>
                <a:latin typeface="Calibri"/>
              </a:defRPr>
            </a:pPr>
            <a:r>
              <a:t>1. Dual Kernel PCA Projections</a:t>
            </a:r>
          </a:p>
        </p:txBody>
      </p:sp>
      <p:sp>
        <p:nvSpPr>
          <p:cNvPr id="7" name="TextBox 6"/>
          <p:cNvSpPr txBox="1"/>
          <p:nvPr/>
        </p:nvSpPr>
        <p:spPr>
          <a:xfrm>
            <a:off x="914400" y="2011680"/>
            <a:ext cx="4846320" cy="1463040"/>
          </a:xfrm>
          <a:prstGeom prst="rect">
            <a:avLst/>
          </a:prstGeom>
          <a:noFill/>
        </p:spPr>
        <p:txBody>
          <a:bodyPr wrap="square">
            <a:spAutoFit/>
          </a:bodyPr>
          <a:lstStyle/>
          <a:p>
            <a:pPr>
              <a:defRPr sz="1100">
                <a:solidFill>
                  <a:srgbClr val="475569"/>
                </a:solidFill>
                <a:latin typeface="Calibri"/>
              </a:defRPr>
            </a:pPr>
            <a:r>
              <a:t>Side-by-side low-dimensional embeddings comparing classical RBF manifolds against quantum fidelity manifolds, visualizing global topological distortion in real time.</a:t>
            </a:r>
          </a:p>
        </p:txBody>
      </p:sp>
      <p:sp>
        <p:nvSpPr>
          <p:cNvPr id="8" name="Rounded Rectangle 7"/>
          <p:cNvSpPr/>
          <p:nvPr/>
        </p:nvSpPr>
        <p:spPr>
          <a:xfrm>
            <a:off x="6217920" y="146304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320040"/>
          </a:xfrm>
          <a:prstGeom prst="rect">
            <a:avLst/>
          </a:prstGeom>
          <a:noFill/>
        </p:spPr>
        <p:txBody>
          <a:bodyPr wrap="square" lIns="0" rIns="0" tIns="0" bIns="0">
            <a:spAutoFit/>
          </a:bodyPr>
          <a:lstStyle/>
          <a:p>
            <a:pPr>
              <a:defRPr sz="1300" b="1">
                <a:solidFill>
                  <a:srgbClr val="1E293B"/>
                </a:solidFill>
                <a:latin typeface="Calibri"/>
              </a:defRPr>
            </a:pPr>
            <a:r>
              <a:t>2. Interactive Anomaly Filtering</a:t>
            </a:r>
          </a:p>
        </p:txBody>
      </p:sp>
      <p:sp>
        <p:nvSpPr>
          <p:cNvPr id="10" name="TextBox 9"/>
          <p:cNvSpPr txBox="1"/>
          <p:nvPr/>
        </p:nvSpPr>
        <p:spPr>
          <a:xfrm>
            <a:off x="6400800" y="2011680"/>
            <a:ext cx="4846320" cy="1463040"/>
          </a:xfrm>
          <a:prstGeom prst="rect">
            <a:avLst/>
          </a:prstGeom>
          <a:noFill/>
        </p:spPr>
        <p:txBody>
          <a:bodyPr wrap="square">
            <a:spAutoFit/>
          </a:bodyPr>
          <a:lstStyle/>
          <a:p>
            <a:pPr>
              <a:defRPr sz="1100">
                <a:solidFill>
                  <a:srgbClr val="475569"/>
                </a:solidFill>
                <a:latin typeface="Calibri"/>
              </a:defRPr>
            </a:pPr>
            <a:r>
              <a:t>Dynamic percentile threshold sliders (p in [80, 99]) categorizing points into Quantum-only, Classical-only, Consensus, and Bulk quadrants.</a:t>
            </a:r>
          </a:p>
        </p:txBody>
      </p:sp>
      <p:sp>
        <p:nvSpPr>
          <p:cNvPr id="11" name="Rounded Rectangle 10"/>
          <p:cNvSpPr/>
          <p:nvPr/>
        </p:nvSpPr>
        <p:spPr>
          <a:xfrm>
            <a:off x="731520" y="3931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846320" cy="320040"/>
          </a:xfrm>
          <a:prstGeom prst="rect">
            <a:avLst/>
          </a:prstGeom>
          <a:noFill/>
        </p:spPr>
        <p:txBody>
          <a:bodyPr wrap="square" lIns="0" rIns="0" tIns="0" bIns="0">
            <a:spAutoFit/>
          </a:bodyPr>
          <a:lstStyle/>
          <a:p>
            <a:pPr>
              <a:defRPr sz="1300" b="1">
                <a:solidFill>
                  <a:srgbClr val="1E293B"/>
                </a:solidFill>
                <a:latin typeface="Calibri"/>
              </a:defRPr>
            </a:pPr>
            <a:r>
              <a:t>3. Kernel Heatmaps &amp; Affinity Inspection</a:t>
            </a:r>
          </a:p>
        </p:txBody>
      </p:sp>
      <p:sp>
        <p:nvSpPr>
          <p:cNvPr id="13" name="TextBox 12"/>
          <p:cNvSpPr txBox="1"/>
          <p:nvPr/>
        </p:nvSpPr>
        <p:spPr>
          <a:xfrm>
            <a:off x="914400" y="4480560"/>
            <a:ext cx="4846320" cy="1463040"/>
          </a:xfrm>
          <a:prstGeom prst="rect">
            <a:avLst/>
          </a:prstGeom>
          <a:noFill/>
        </p:spPr>
        <p:txBody>
          <a:bodyPr wrap="square">
            <a:spAutoFit/>
          </a:bodyPr>
          <a:lstStyle/>
          <a:p>
            <a:pPr>
              <a:defRPr sz="1100">
                <a:solidFill>
                  <a:srgbClr val="475569"/>
                </a:solidFill>
                <a:latin typeface="Calibri"/>
              </a:defRPr>
            </a:pPr>
            <a:r>
              <a:t>Interactive pairwise affinity heatmaps displaying classical vs quantum similarity matrices side-by-side, enabling visual inspection of off-diagonal blocks.</a:t>
            </a:r>
          </a:p>
        </p:txBody>
      </p:sp>
      <p:sp>
        <p:nvSpPr>
          <p:cNvPr id="14" name="Rounded Rectangle 13"/>
          <p:cNvSpPr/>
          <p:nvPr/>
        </p:nvSpPr>
        <p:spPr>
          <a:xfrm>
            <a:off x="6217920" y="3931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46320" cy="320040"/>
          </a:xfrm>
          <a:prstGeom prst="rect">
            <a:avLst/>
          </a:prstGeom>
          <a:noFill/>
        </p:spPr>
        <p:txBody>
          <a:bodyPr wrap="square" lIns="0" rIns="0" tIns="0" bIns="0">
            <a:spAutoFit/>
          </a:bodyPr>
          <a:lstStyle/>
          <a:p>
            <a:pPr>
              <a:defRPr sz="1300" b="1">
                <a:solidFill>
                  <a:srgbClr val="1E293B"/>
                </a:solidFill>
                <a:latin typeface="Calibri"/>
              </a:defRPr>
            </a:pPr>
            <a:r>
              <a:t>4. Candidate Feature Profiling</a:t>
            </a:r>
          </a:p>
        </p:txBody>
      </p:sp>
      <p:sp>
        <p:nvSpPr>
          <p:cNvPr id="16" name="TextBox 15"/>
          <p:cNvSpPr txBox="1"/>
          <p:nvPr/>
        </p:nvSpPr>
        <p:spPr>
          <a:xfrm>
            <a:off x="6400800" y="4480560"/>
            <a:ext cx="4846320" cy="1463040"/>
          </a:xfrm>
          <a:prstGeom prst="rect">
            <a:avLst/>
          </a:prstGeom>
          <a:noFill/>
        </p:spPr>
        <p:txBody>
          <a:bodyPr wrap="square">
            <a:spAutoFit/>
          </a:bodyPr>
          <a:lstStyle/>
          <a:p>
            <a:pPr>
              <a:defRPr sz="1100">
                <a:solidFill>
                  <a:srgbClr val="475569"/>
                </a:solidFill>
                <a:latin typeface="Calibri"/>
              </a:defRPr>
            </a:pPr>
            <a:r>
              <a:t>Multi-feature distribution radar plots profiling individual quantum-specific candidates against background population distributions for domain hypothesis generation.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SCIENTIFIC POSITIONING</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Methodological Boundaries &amp; Threats to Validity</a:t>
            </a:r>
          </a:p>
          <a:p>
            <a:pPr>
              <a:defRPr sz="1200">
                <a:solidFill>
                  <a:srgbClr val="475569"/>
                </a:solidFill>
                <a:latin typeface="Calibri"/>
              </a:defRPr>
            </a:pPr>
            <a:r>
              <a:t>Maintaining transparent, rigorous academic positioning regarding scope and assumptions.</a:t>
            </a:r>
          </a:p>
        </p:txBody>
      </p:sp>
      <p:sp>
        <p:nvSpPr>
          <p:cNvPr id="5" name="Rounded Rectangle 4"/>
          <p:cNvSpPr/>
          <p:nvPr/>
        </p:nvSpPr>
        <p:spPr>
          <a:xfrm>
            <a:off x="731520" y="1463040"/>
            <a:ext cx="10698480" cy="10972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72768"/>
            <a:ext cx="10332720" cy="868680"/>
          </a:xfrm>
          <a:prstGeom prst="rect">
            <a:avLst/>
          </a:prstGeom>
          <a:noFill/>
        </p:spPr>
        <p:txBody>
          <a:bodyPr wrap="square">
            <a:spAutoFit/>
          </a:bodyPr>
          <a:lstStyle/>
          <a:p>
            <a:pPr>
              <a:defRPr sz="1150" b="1">
                <a:solidFill>
                  <a:srgbClr val="D97706"/>
                </a:solidFill>
                <a:latin typeface="Calibri"/>
              </a:defRPr>
            </a:pPr>
            <a:r>
              <a:t>1. Classical Statevector Simulation Backend:</a:t>
            </a:r>
          </a:p>
          <a:p>
            <a:pPr>
              <a:defRPr sz="1000">
                <a:solidFill>
                  <a:srgbClr val="1E293B"/>
                </a:solidFill>
                <a:latin typeface="Calibri"/>
              </a:defRPr>
            </a:pPr>
            <a:r>
              <a:t>All quantum calculations used Qiskit StatevectorSampler (noiseless statevector simulation). Physical QPUs introduce gate errors, readout noise, and thermal cross-talk. While finite-shot tests show numerical stability, physical hardware execution remains essential future work.</a:t>
            </a:r>
          </a:p>
        </p:txBody>
      </p:sp>
      <p:sp>
        <p:nvSpPr>
          <p:cNvPr id="7" name="Rounded Rectangle 6"/>
          <p:cNvSpPr/>
          <p:nvPr/>
        </p:nvSpPr>
        <p:spPr>
          <a:xfrm>
            <a:off x="731520" y="2697480"/>
            <a:ext cx="10698480" cy="10972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807208"/>
            <a:ext cx="10332720" cy="868680"/>
          </a:xfrm>
          <a:prstGeom prst="rect">
            <a:avLst/>
          </a:prstGeom>
          <a:noFill/>
        </p:spPr>
        <p:txBody>
          <a:bodyPr wrap="square">
            <a:spAutoFit/>
          </a:bodyPr>
          <a:lstStyle/>
          <a:p>
            <a:pPr>
              <a:defRPr sz="1150" b="1">
                <a:solidFill>
                  <a:srgbClr val="D97706"/>
                </a:solidFill>
                <a:latin typeface="Calibri"/>
              </a:defRPr>
            </a:pPr>
            <a:r>
              <a:t>2. Computational Complexity &amp; Sample Scaling:</a:t>
            </a:r>
          </a:p>
          <a:p>
            <a:pPr>
              <a:defRPr sz="1000">
                <a:solidFill>
                  <a:srgbClr val="1E293B"/>
                </a:solidFill>
                <a:latin typeface="Calibri"/>
              </a:defRPr>
            </a:pPr>
            <a:r>
              <a:t>Pairwise state fidelity evaluation exhibits O(N^2) complexity, scaling empirically as t proportional to N^1.9. Primary experiments used deterministic subsets of N=150 (~43s per kernel). Scaling to full datasets (N &gt; 1000) requires distributed simulation or physical quantum processors.</a:t>
            </a:r>
          </a:p>
        </p:txBody>
      </p:sp>
      <p:sp>
        <p:nvSpPr>
          <p:cNvPr id="9" name="Rounded Rectangle 8"/>
          <p:cNvSpPr/>
          <p:nvPr/>
        </p:nvSpPr>
        <p:spPr>
          <a:xfrm>
            <a:off x="731520" y="3931920"/>
            <a:ext cx="10698480" cy="10972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41648"/>
            <a:ext cx="10332720" cy="868680"/>
          </a:xfrm>
          <a:prstGeom prst="rect">
            <a:avLst/>
          </a:prstGeom>
          <a:noFill/>
        </p:spPr>
        <p:txBody>
          <a:bodyPr wrap="square">
            <a:spAutoFit/>
          </a:bodyPr>
          <a:lstStyle/>
          <a:p>
            <a:pPr>
              <a:defRPr sz="1150" b="1">
                <a:solidFill>
                  <a:srgbClr val="D97706"/>
                </a:solidFill>
                <a:latin typeface="Calibri"/>
              </a:defRPr>
            </a:pPr>
            <a:r>
              <a:t>3. Exploratory Candidates != Ground-Truth Outliers:</a:t>
            </a:r>
          </a:p>
          <a:p>
            <a:pPr>
              <a:defRPr sz="1000">
                <a:solidFill>
                  <a:srgbClr val="1E293B"/>
                </a:solidFill>
                <a:latin typeface="Calibri"/>
              </a:defRPr>
            </a:pPr>
            <a:r>
              <a:t>Observations surfaced by high QI_v2 scores are formally designated 'Quantum-Specific Exploratory Candidates'. They represent structural divergences between metric spaces to guide domain hypothesis generation, not confirmed physical defects or real-world anomalies.</a:t>
            </a:r>
          </a:p>
        </p:txBody>
      </p:sp>
      <p:sp>
        <p:nvSpPr>
          <p:cNvPr id="11" name="Rounded Rectangle 10"/>
          <p:cNvSpPr/>
          <p:nvPr/>
        </p:nvSpPr>
        <p:spPr>
          <a:xfrm>
            <a:off x="731520" y="5166360"/>
            <a:ext cx="10698480" cy="109728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276088"/>
            <a:ext cx="10332720" cy="868680"/>
          </a:xfrm>
          <a:prstGeom prst="rect">
            <a:avLst/>
          </a:prstGeom>
          <a:noFill/>
        </p:spPr>
        <p:txBody>
          <a:bodyPr wrap="square">
            <a:spAutoFit/>
          </a:bodyPr>
          <a:lstStyle/>
          <a:p>
            <a:pPr>
              <a:defRPr sz="1150" b="1">
                <a:solidFill>
                  <a:srgbClr val="D97706"/>
                </a:solidFill>
                <a:latin typeface="Calibri"/>
              </a:defRPr>
            </a:pPr>
            <a:r>
              <a:t>4. No Claim of Quantum Computational Advantage:</a:t>
            </a:r>
          </a:p>
          <a:p>
            <a:pPr>
              <a:defRPr sz="1000">
                <a:solidFill>
                  <a:srgbClr val="1E293B"/>
                </a:solidFill>
                <a:latin typeface="Calibri"/>
              </a:defRPr>
            </a:pPr>
            <a:r>
              <a:t>This work claims NO asymptotic speedup, supremacy, or universal superiority over classical algorithms. The contribution is a formal exploratory framework for representation-dependent exploratory analysis.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rIns="0" tIns="0" bIns="0">
            <a:spAutoFit/>
          </a:bodyPr>
          <a:lstStyle/>
          <a:p>
            <a:pPr>
              <a:defRPr sz="1000" b="1">
                <a:solidFill>
                  <a:srgbClr val="0284C7"/>
                </a:solidFill>
                <a:latin typeface="Calibri"/>
              </a:defRPr>
            </a:pPr>
            <a:r>
              <a:t>CONCLUSIONS</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defRPr sz="2200" b="1">
                <a:solidFill>
                  <a:srgbClr val="0F172A"/>
                </a:solidFill>
                <a:latin typeface="Calibri"/>
              </a:defRPr>
            </a:pPr>
            <a:r>
              <a:t>Summary of Empirical Findings &amp; Research Contributions</a:t>
            </a:r>
          </a:p>
          <a:p>
            <a:pPr>
              <a:defRPr sz="1200">
                <a:solidFill>
                  <a:srgbClr val="475569"/>
                </a:solidFill>
                <a:latin typeface="Calibri"/>
              </a:defRPr>
            </a:pPr>
            <a:r>
              <a:t>Formal conclusions supported by reproducible experimental measurements.</a:t>
            </a:r>
          </a:p>
        </p:txBody>
      </p:sp>
      <p:sp>
        <p:nvSpPr>
          <p:cNvPr id="5" name="Rounded Rectangle 4"/>
          <p:cNvSpPr/>
          <p:nvPr/>
        </p:nvSpPr>
        <p:spPr>
          <a:xfrm>
            <a:off x="731520" y="146304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320040"/>
          </a:xfrm>
          <a:prstGeom prst="rect">
            <a:avLst/>
          </a:prstGeom>
          <a:noFill/>
        </p:spPr>
        <p:txBody>
          <a:bodyPr wrap="square" lIns="0" rIns="0" tIns="0" bIns="0">
            <a:spAutoFit/>
          </a:bodyPr>
          <a:lstStyle/>
          <a:p>
            <a:pPr>
              <a:defRPr sz="1300" b="1">
                <a:solidFill>
                  <a:srgbClr val="1E293B"/>
                </a:solidFill>
                <a:latin typeface="Calibri"/>
              </a:defRPr>
            </a:pPr>
            <a:r>
              <a:t>1. Substantial Geometric Divergence</a:t>
            </a:r>
          </a:p>
        </p:txBody>
      </p:sp>
      <p:sp>
        <p:nvSpPr>
          <p:cNvPr id="7" name="TextBox 6"/>
          <p:cNvSpPr txBox="1"/>
          <p:nvPr/>
        </p:nvSpPr>
        <p:spPr>
          <a:xfrm>
            <a:off x="914400" y="2011680"/>
            <a:ext cx="4846320" cy="1371600"/>
          </a:xfrm>
          <a:prstGeom prst="rect">
            <a:avLst/>
          </a:prstGeom>
          <a:noFill/>
        </p:spPr>
        <p:txBody>
          <a:bodyPr wrap="square">
            <a:spAutoFit/>
          </a:bodyPr>
          <a:lstStyle/>
          <a:p>
            <a:pPr>
              <a:defRPr sz="1100">
                <a:solidFill>
                  <a:srgbClr val="475569"/>
                </a:solidFill>
                <a:latin typeface="Calibri"/>
              </a:defRPr>
            </a:pPr>
            <a:r>
              <a:t>Classical and quantum feature spaces induce structurally divergent global (CKA = 0.2484) and local (Jaccard@10 = 0.1004) geometries, confirmed across 3 real-world datasets.</a:t>
            </a:r>
          </a:p>
        </p:txBody>
      </p:sp>
      <p:sp>
        <p:nvSpPr>
          <p:cNvPr id="8" name="Rounded Rectangle 7"/>
          <p:cNvSpPr/>
          <p:nvPr/>
        </p:nvSpPr>
        <p:spPr>
          <a:xfrm>
            <a:off x="6217920" y="146304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320040"/>
          </a:xfrm>
          <a:prstGeom prst="rect">
            <a:avLst/>
          </a:prstGeom>
          <a:noFill/>
        </p:spPr>
        <p:txBody>
          <a:bodyPr wrap="square" lIns="0" rIns="0" tIns="0" bIns="0">
            <a:spAutoFit/>
          </a:bodyPr>
          <a:lstStyle/>
          <a:p>
            <a:pPr>
              <a:defRPr sz="1300" b="1">
                <a:solidFill>
                  <a:srgbClr val="1E293B"/>
                </a:solidFill>
                <a:latin typeface="Calibri"/>
              </a:defRPr>
            </a:pPr>
            <a:r>
              <a:t>2. More Than 2x Classical Non-Linearity</a:t>
            </a:r>
          </a:p>
        </p:txBody>
      </p:sp>
      <p:sp>
        <p:nvSpPr>
          <p:cNvPr id="10" name="TextBox 9"/>
          <p:cNvSpPr txBox="1"/>
          <p:nvPr/>
        </p:nvSpPr>
        <p:spPr>
          <a:xfrm>
            <a:off x="6400800" y="2011680"/>
            <a:ext cx="4846320" cy="1371600"/>
          </a:xfrm>
          <a:prstGeom prst="rect">
            <a:avLst/>
          </a:prstGeom>
          <a:noFill/>
        </p:spPr>
        <p:txBody>
          <a:bodyPr wrap="square">
            <a:spAutoFit/>
          </a:bodyPr>
          <a:lstStyle/>
          <a:p>
            <a:pPr>
              <a:defRPr sz="1100">
                <a:solidFill>
                  <a:srgbClr val="475569"/>
                </a:solidFill>
                <a:latin typeface="Calibri"/>
              </a:defRPr>
            </a:pPr>
            <a:r>
              <a:t>Quantum feature maps produce over twice the structural divergence from RBF (D = 0.7516) compared to 3rd-degree polynomial kernels (D = 0.3298), refuting trivial emulation.</a:t>
            </a:r>
          </a:p>
        </p:txBody>
      </p:sp>
      <p:sp>
        <p:nvSpPr>
          <p:cNvPr id="11" name="Rounded Rectangle 10"/>
          <p:cNvSpPr/>
          <p:nvPr/>
        </p:nvSpPr>
        <p:spPr>
          <a:xfrm>
            <a:off x="731520" y="384048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77640"/>
            <a:ext cx="4846320" cy="320040"/>
          </a:xfrm>
          <a:prstGeom prst="rect">
            <a:avLst/>
          </a:prstGeom>
          <a:noFill/>
        </p:spPr>
        <p:txBody>
          <a:bodyPr wrap="square" lIns="0" rIns="0" tIns="0" bIns="0">
            <a:spAutoFit/>
          </a:bodyPr>
          <a:lstStyle/>
          <a:p>
            <a:pPr>
              <a:defRPr sz="1300" b="1">
                <a:solidFill>
                  <a:srgbClr val="1E293B"/>
                </a:solidFill>
                <a:latin typeface="Calibri"/>
              </a:defRPr>
            </a:pPr>
            <a:r>
              <a:t>3. Formally Non-Random (p &lt; 0.01)</a:t>
            </a:r>
          </a:p>
        </p:txBody>
      </p:sp>
      <p:sp>
        <p:nvSpPr>
          <p:cNvPr id="13" name="TextBox 12"/>
          <p:cNvSpPr txBox="1"/>
          <p:nvPr/>
        </p:nvSpPr>
        <p:spPr>
          <a:xfrm>
            <a:off x="914400" y="4389120"/>
            <a:ext cx="4846320" cy="1371600"/>
          </a:xfrm>
          <a:prstGeom prst="rect">
            <a:avLst/>
          </a:prstGeom>
          <a:noFill/>
        </p:spPr>
        <p:txBody>
          <a:bodyPr wrap="square">
            <a:spAutoFit/>
          </a:bodyPr>
          <a:lstStyle/>
          <a:p>
            <a:pPr>
              <a:defRPr sz="1100">
                <a:solidFill>
                  <a:srgbClr val="475569"/>
                </a:solidFill>
                <a:latin typeface="Calibri"/>
              </a:defRPr>
            </a:pPr>
            <a:r>
              <a:t>A full B=100 quantum permutation test (z = +8.91, p = 0.0099) proves that observed alignment is statistically non-random and reflects genuine structured representation.</a:t>
            </a:r>
          </a:p>
        </p:txBody>
      </p:sp>
      <p:sp>
        <p:nvSpPr>
          <p:cNvPr id="14" name="Rounded Rectangle 13"/>
          <p:cNvSpPr/>
          <p:nvPr/>
        </p:nvSpPr>
        <p:spPr>
          <a:xfrm>
            <a:off x="6217920" y="384048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977640"/>
            <a:ext cx="4846320" cy="320040"/>
          </a:xfrm>
          <a:prstGeom prst="rect">
            <a:avLst/>
          </a:prstGeom>
          <a:noFill/>
        </p:spPr>
        <p:txBody>
          <a:bodyPr wrap="square" lIns="0" rIns="0" tIns="0" bIns="0">
            <a:spAutoFit/>
          </a:bodyPr>
          <a:lstStyle/>
          <a:p>
            <a:pPr>
              <a:defRPr sz="1300" b="1">
                <a:solidFill>
                  <a:srgbClr val="1E293B"/>
                </a:solidFill>
                <a:latin typeface="Calibri"/>
              </a:defRPr>
            </a:pPr>
            <a:r>
              <a:t>4. Robust Exploratory Framework</a:t>
            </a:r>
          </a:p>
        </p:txBody>
      </p:sp>
      <p:sp>
        <p:nvSpPr>
          <p:cNvPr id="16" name="TextBox 15"/>
          <p:cNvSpPr txBox="1"/>
          <p:nvPr/>
        </p:nvSpPr>
        <p:spPr>
          <a:xfrm>
            <a:off x="6400800" y="4389120"/>
            <a:ext cx="4846320" cy="1371600"/>
          </a:xfrm>
          <a:prstGeom prst="rect">
            <a:avLst/>
          </a:prstGeom>
          <a:noFill/>
        </p:spPr>
        <p:txBody>
          <a:bodyPr wrap="square">
            <a:spAutoFit/>
          </a:bodyPr>
          <a:lstStyle/>
          <a:p>
            <a:pPr>
              <a:defRPr sz="1100">
                <a:solidFill>
                  <a:srgbClr val="475569"/>
                </a:solidFill>
                <a:latin typeface="Calibri"/>
              </a:defRPr>
            </a:pPr>
            <a:r>
              <a:t>The decoupled QI_v2 framework (QU + RD) surfaces 13 quantum-specific candidates with high ranking stability (rho = 0.9697) and verified finite-shot noise resilience (rho &gt;= 0.999).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097280"/>
            <a:ext cx="13716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1097280"/>
          </a:xfrm>
          <a:prstGeom prst="rect">
            <a:avLst/>
          </a:prstGeom>
          <a:noFill/>
        </p:spPr>
        <p:txBody>
          <a:bodyPr wrap="none">
            <a:spAutoFit/>
          </a:bodyPr>
          <a:lstStyle/>
          <a:p>
            <a:pPr>
              <a:defRPr sz="1100" b="1">
                <a:solidFill>
                  <a:srgbClr val="0EA5E9"/>
                </a:solidFill>
                <a:latin typeface="Calibri"/>
              </a:defRPr>
            </a:pPr>
            <a:r>
              <a:t>RESEARCH ROADMAP &amp; ACKNOWLEDGMENTS</a:t>
            </a:r>
          </a:p>
          <a:p>
            <a:pPr>
              <a:defRPr sz="2600" b="1">
                <a:solidFill>
                  <a:srgbClr val="FFFFFF"/>
                </a:solidFill>
                <a:latin typeface="Calibri"/>
              </a:defRPr>
            </a:pPr>
            <a:r>
              <a:t>Future Research Agenda &amp; Questions</a:t>
            </a:r>
          </a:p>
        </p:txBody>
      </p:sp>
      <p:sp>
        <p:nvSpPr>
          <p:cNvPr id="5" name="Rounded Rectangle 4"/>
          <p:cNvSpPr/>
          <p:nvPr/>
        </p:nvSpPr>
        <p:spPr>
          <a:xfrm>
            <a:off x="914400" y="2560320"/>
            <a:ext cx="3383280" cy="228600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697480"/>
            <a:ext cx="3017520" cy="320040"/>
          </a:xfrm>
          <a:prstGeom prst="rect">
            <a:avLst/>
          </a:prstGeom>
          <a:noFill/>
        </p:spPr>
        <p:txBody>
          <a:bodyPr wrap="square" lIns="0" rIns="0" tIns="0" bIns="0">
            <a:spAutoFit/>
          </a:bodyPr>
          <a:lstStyle/>
          <a:p>
            <a:pPr>
              <a:defRPr sz="1300" b="1">
                <a:solidFill>
                  <a:srgbClr val="1E293B"/>
                </a:solidFill>
                <a:latin typeface="Calibri"/>
              </a:defRPr>
            </a:pPr>
            <a:r>
              <a:t>1. Physical QPU Execution</a:t>
            </a:r>
          </a:p>
        </p:txBody>
      </p:sp>
      <p:sp>
        <p:nvSpPr>
          <p:cNvPr id="7" name="TextBox 6"/>
          <p:cNvSpPr txBox="1"/>
          <p:nvPr/>
        </p:nvSpPr>
        <p:spPr>
          <a:xfrm>
            <a:off x="1097280" y="3200400"/>
            <a:ext cx="3017520" cy="1463040"/>
          </a:xfrm>
          <a:prstGeom prst="rect">
            <a:avLst/>
          </a:prstGeom>
          <a:noFill/>
        </p:spPr>
        <p:txBody>
          <a:bodyPr wrap="square">
            <a:spAutoFit/>
          </a:bodyPr>
          <a:lstStyle/>
          <a:p>
            <a:pPr>
              <a:defRPr sz="1050">
                <a:solidFill>
                  <a:srgbClr val="94A3B8"/>
                </a:solidFill>
                <a:latin typeface="Calibri"/>
              </a:defRPr>
            </a:pPr>
            <a:r>
              <a:t>Deploy kernel evaluations on IBM Quantum Heron/Eagle processors with Zero-Noise Extrapolation (ZNE) error mitigation.</a:t>
            </a:r>
          </a:p>
        </p:txBody>
      </p:sp>
      <p:sp>
        <p:nvSpPr>
          <p:cNvPr id="8" name="Rounded Rectangle 7"/>
          <p:cNvSpPr/>
          <p:nvPr/>
        </p:nvSpPr>
        <p:spPr>
          <a:xfrm>
            <a:off x="4389120" y="2560320"/>
            <a:ext cx="3383280" cy="228600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697480"/>
            <a:ext cx="3017520" cy="320040"/>
          </a:xfrm>
          <a:prstGeom prst="rect">
            <a:avLst/>
          </a:prstGeom>
          <a:noFill/>
        </p:spPr>
        <p:txBody>
          <a:bodyPr wrap="square" lIns="0" rIns="0" tIns="0" bIns="0">
            <a:spAutoFit/>
          </a:bodyPr>
          <a:lstStyle/>
          <a:p>
            <a:pPr>
              <a:defRPr sz="1300" b="1">
                <a:solidFill>
                  <a:srgbClr val="1E293B"/>
                </a:solidFill>
                <a:latin typeface="Calibri"/>
              </a:defRPr>
            </a:pPr>
            <a:r>
              <a:t>2. Large-Scale N Scaling</a:t>
            </a:r>
          </a:p>
        </p:txBody>
      </p:sp>
      <p:sp>
        <p:nvSpPr>
          <p:cNvPr id="10" name="TextBox 9"/>
          <p:cNvSpPr txBox="1"/>
          <p:nvPr/>
        </p:nvSpPr>
        <p:spPr>
          <a:xfrm>
            <a:off x="4572000" y="3200400"/>
            <a:ext cx="3017520" cy="1463040"/>
          </a:xfrm>
          <a:prstGeom prst="rect">
            <a:avLst/>
          </a:prstGeom>
          <a:noFill/>
        </p:spPr>
        <p:txBody>
          <a:bodyPr wrap="square">
            <a:spAutoFit/>
          </a:bodyPr>
          <a:lstStyle/>
          <a:p>
            <a:pPr>
              <a:defRPr sz="1050">
                <a:solidFill>
                  <a:srgbClr val="94A3B8"/>
                </a:solidFill>
                <a:latin typeface="Calibri"/>
              </a:defRPr>
            </a:pPr>
            <a:r>
              <a:t>Implement random feature projections and Nyström kernel approximations to scale the pipeline beyond N=1000 observations.</a:t>
            </a:r>
          </a:p>
        </p:txBody>
      </p:sp>
      <p:sp>
        <p:nvSpPr>
          <p:cNvPr id="11" name="Rounded Rectangle 10"/>
          <p:cNvSpPr/>
          <p:nvPr/>
        </p:nvSpPr>
        <p:spPr>
          <a:xfrm>
            <a:off x="7863840" y="2560320"/>
            <a:ext cx="3383280" cy="228600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2697480"/>
            <a:ext cx="3017520" cy="320040"/>
          </a:xfrm>
          <a:prstGeom prst="rect">
            <a:avLst/>
          </a:prstGeom>
          <a:noFill/>
        </p:spPr>
        <p:txBody>
          <a:bodyPr wrap="square" lIns="0" rIns="0" tIns="0" bIns="0">
            <a:spAutoFit/>
          </a:bodyPr>
          <a:lstStyle/>
          <a:p>
            <a:pPr>
              <a:defRPr sz="1300" b="1">
                <a:solidFill>
                  <a:srgbClr val="1E293B"/>
                </a:solidFill>
                <a:latin typeface="Calibri"/>
              </a:defRPr>
            </a:pPr>
            <a:r>
              <a:t>3. Domain Expert Studies</a:t>
            </a:r>
          </a:p>
        </p:txBody>
      </p:sp>
      <p:sp>
        <p:nvSpPr>
          <p:cNvPr id="13" name="TextBox 12"/>
          <p:cNvSpPr txBox="1"/>
          <p:nvPr/>
        </p:nvSpPr>
        <p:spPr>
          <a:xfrm>
            <a:off x="8046720" y="3200400"/>
            <a:ext cx="3017520" cy="1463040"/>
          </a:xfrm>
          <a:prstGeom prst="rect">
            <a:avLst/>
          </a:prstGeom>
          <a:noFill/>
        </p:spPr>
        <p:txBody>
          <a:bodyPr wrap="square">
            <a:spAutoFit/>
          </a:bodyPr>
          <a:lstStyle/>
          <a:p>
            <a:pPr>
              <a:defRPr sz="1050">
                <a:solidFill>
                  <a:srgbClr val="94A3B8"/>
                </a:solidFill>
                <a:latin typeface="Calibri"/>
              </a:defRPr>
            </a:pPr>
            <a:r>
              <a:t>Partner with materials and genomics researchers to evaluate whether quantum candidates lead to confirmed scientific hypotheses.</a:t>
            </a:r>
          </a:p>
        </p:txBody>
      </p:sp>
      <p:sp>
        <p:nvSpPr>
          <p:cNvPr id="14" name="Rounded Rectangle 13"/>
          <p:cNvSpPr/>
          <p:nvPr/>
        </p:nvSpPr>
        <p:spPr>
          <a:xfrm>
            <a:off x="914400" y="5120640"/>
            <a:ext cx="10332720" cy="109728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5257800"/>
            <a:ext cx="9784080" cy="822960"/>
          </a:xfrm>
          <a:prstGeom prst="rect">
            <a:avLst/>
          </a:prstGeom>
          <a:noFill/>
        </p:spPr>
        <p:txBody>
          <a:bodyPr wrap="none">
            <a:spAutoFit/>
          </a:bodyPr>
          <a:lstStyle/>
          <a:p>
            <a:pPr>
              <a:defRPr sz="1400" b="1">
                <a:solidFill>
                  <a:srgbClr val="FFFFFF"/>
                </a:solidFill>
                <a:latin typeface="Calibri"/>
              </a:defRPr>
            </a:pPr>
            <a:r>
              <a:t>Thank You! Questions &amp; Discussion Welcomed.</a:t>
            </a:r>
          </a:p>
          <a:p>
            <a:pPr>
              <a:defRPr sz="1050">
                <a:solidFill>
                  <a:srgbClr val="0EA5E9"/>
                </a:solidFill>
                <a:latin typeface="Calibri"/>
              </a:defRPr>
            </a:pPr>
            <a:r>
              <a:t>Full reproducible codebase, datasets, and experiment logs: github.com/SoorajGP/quantum-eda-interestingness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